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5AC5C1-03D3-4C44-A66D-167FFE2893B3}" v="1" dt="2026-09-22T05:42:33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SAHASRA MANUKONDA" userId="7433561f35d7f931" providerId="LiveId" clId="{3E9A625D-7109-4696-AA22-1497EAEA0DDF}"/>
    <pc:docChg chg="custSel addSld modSld">
      <pc:chgData name="SAI SAHASRA MANUKONDA" userId="7433561f35d7f931" providerId="LiveId" clId="{3E9A625D-7109-4696-AA22-1497EAEA0DDF}" dt="2026-09-22T05:42:59.965" v="75" actId="5793"/>
      <pc:docMkLst>
        <pc:docMk/>
      </pc:docMkLst>
      <pc:sldChg chg="modSp mod">
        <pc:chgData name="SAI SAHASRA MANUKONDA" userId="7433561f35d7f931" providerId="LiveId" clId="{3E9A625D-7109-4696-AA22-1497EAEA0DDF}" dt="2026-09-22T05:35:47.593" v="25" actId="20577"/>
        <pc:sldMkLst>
          <pc:docMk/>
          <pc:sldMk cId="2581517241" sldId="258"/>
        </pc:sldMkLst>
        <pc:spChg chg="mod">
          <ac:chgData name="SAI SAHASRA MANUKONDA" userId="7433561f35d7f931" providerId="LiveId" clId="{3E9A625D-7109-4696-AA22-1497EAEA0DDF}" dt="2026-09-22T05:35:47.593" v="25" actId="20577"/>
          <ac:spMkLst>
            <pc:docMk/>
            <pc:sldMk cId="2581517241" sldId="258"/>
            <ac:spMk id="2" creationId="{F1D6EE88-EBB2-11AB-0FCC-09B3D4A40461}"/>
          </ac:spMkLst>
        </pc:spChg>
      </pc:sldChg>
      <pc:sldChg chg="modSp mod">
        <pc:chgData name="SAI SAHASRA MANUKONDA" userId="7433561f35d7f931" providerId="LiveId" clId="{3E9A625D-7109-4696-AA22-1497EAEA0DDF}" dt="2026-09-22T05:35:34.238" v="0" actId="14100"/>
        <pc:sldMkLst>
          <pc:docMk/>
          <pc:sldMk cId="1676821887" sldId="259"/>
        </pc:sldMkLst>
        <pc:picChg chg="mod">
          <ac:chgData name="SAI SAHASRA MANUKONDA" userId="7433561f35d7f931" providerId="LiveId" clId="{3E9A625D-7109-4696-AA22-1497EAEA0DDF}" dt="2026-09-22T05:35:34.238" v="0" actId="14100"/>
          <ac:picMkLst>
            <pc:docMk/>
            <pc:sldMk cId="1676821887" sldId="259"/>
            <ac:picMk id="5" creationId="{0F876382-BC75-F2A8-84EB-4A3E1B48B4A9}"/>
          </ac:picMkLst>
        </pc:picChg>
      </pc:sldChg>
      <pc:sldChg chg="modSp new mod">
        <pc:chgData name="SAI SAHASRA MANUKONDA" userId="7433561f35d7f931" providerId="LiveId" clId="{3E9A625D-7109-4696-AA22-1497EAEA0DDF}" dt="2026-09-22T05:42:59.965" v="75" actId="5793"/>
        <pc:sldMkLst>
          <pc:docMk/>
          <pc:sldMk cId="2775287779" sldId="260"/>
        </pc:sldMkLst>
        <pc:spChg chg="mod">
          <ac:chgData name="SAI SAHASRA MANUKONDA" userId="7433561f35d7f931" providerId="LiveId" clId="{3E9A625D-7109-4696-AA22-1497EAEA0DDF}" dt="2026-09-22T05:42:43.349" v="69" actId="14100"/>
          <ac:spMkLst>
            <pc:docMk/>
            <pc:sldMk cId="2775287779" sldId="260"/>
            <ac:spMk id="2" creationId="{6037200C-B10F-C44F-AEE2-B11E19E67300}"/>
          </ac:spMkLst>
        </pc:spChg>
        <pc:spChg chg="mod">
          <ac:chgData name="SAI SAHASRA MANUKONDA" userId="7433561f35d7f931" providerId="LiveId" clId="{3E9A625D-7109-4696-AA22-1497EAEA0DDF}" dt="2026-09-22T05:42:59.965" v="75" actId="5793"/>
          <ac:spMkLst>
            <pc:docMk/>
            <pc:sldMk cId="2775287779" sldId="260"/>
            <ac:spMk id="3" creationId="{589FCEEF-5195-004A-E57D-11B69A64469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FB483-11C8-5668-42A6-F920E9DBF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F5A0F-746D-92BB-8C2C-6DCF70FE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58A7F-A1FA-7FD3-6F35-5A28BD377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E3CD-3778-4536-801C-7638D768CE0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C5B3A-7CDC-52C0-0E54-964B04E61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29B63-914E-6A52-0AB7-D89C7CF78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E9D6-CCBC-4210-9A27-66E457521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71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55377-A370-EF5A-3907-C39075D69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D8EF8-ACD8-2AED-D41A-F350F4CBF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57B96-50A5-A950-7B82-F0A4E9AAC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E3CD-3778-4536-801C-7638D768CE0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56FA0-8893-A89E-3475-0F7D49F2B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0370C-E55D-248F-245A-F15615F4F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E9D6-CCBC-4210-9A27-66E457521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941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469F3-E046-D087-C350-415AC19EF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76CD3-1A4A-08A8-10F9-6B4955E8F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2489C-A05C-B643-4775-447A5AEAD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E3CD-3778-4536-801C-7638D768CE0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823-DE7D-4DB1-63B0-24C064D7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9664C-4DBE-91E5-5937-468F7C400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E9D6-CCBC-4210-9A27-66E457521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777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CCF93-C35A-D8F4-38FD-E40D3DC3A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A8643-0E2A-94CE-7308-738582062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7FDD35-79C8-3D17-A172-EDB569926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95CF2-BA1D-5D43-C381-B68910271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E3CD-3778-4536-801C-7638D768CE0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D75E7-DB61-69A5-0331-5D1E021C2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81630-A5CF-FEE2-84B7-13BB0008D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E9D6-CCBC-4210-9A27-66E457521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0D2A8-823A-970A-DD0D-15D4EF3B8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09A1-5496-49CA-0FDC-11D2A4BC7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CEE30-F6CC-124B-6EA0-D614338A3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F1FEF-7CE9-D7F7-AC33-1E66F359E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48C658-89E5-46D9-82EF-831266465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AE91C1-A6BB-419C-5497-2462D62B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E3CD-3778-4536-801C-7638D768CE0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4F0E01-38FA-DA1D-51B1-72630A1A9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3E62F1-E8EE-0481-7DAA-DB866D69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E9D6-CCBC-4210-9A27-66E457521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26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421BB-8C2F-2CE3-35A1-D296092FF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BDEA0A-EDDF-7F46-C600-1872D720D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E3CD-3778-4536-801C-7638D768CE0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EE448-59EE-3ABC-9797-57A5A82CC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2C02CE-6BBF-CF9C-0222-57CA41300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E9D6-CCBC-4210-9A27-66E457521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30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13D9E3-A868-203D-1C83-423721B33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E3CD-3778-4536-801C-7638D768CE0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E38AF-6EE3-3FFA-6DCC-0D4ACEFF0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11069-8BC9-56BC-B676-2C15B4D5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E9D6-CCBC-4210-9A27-66E457521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061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E0E89-3D96-3BA7-3EC9-8CC6E8100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F083D-A7B2-C537-9426-24BCE778D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D900E-EC00-6E49-2DDB-B766D050E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D8711-C2DA-C8ED-0924-A95916FD8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E3CD-3778-4536-801C-7638D768CE0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EFBB0-D89F-73B9-539A-E5683B795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EB082-42C7-76B5-D7F9-DF222A831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E9D6-CCBC-4210-9A27-66E457521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054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71FFA-2623-914D-511C-CF5A76D32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EC1DD7-FC43-C997-4544-44D559779B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56CE0D-1AD8-C711-0110-4DF61849A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917BB-B24D-82C5-8AA1-89E528AE7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E3CD-3778-4536-801C-7638D768CE0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B84CD-EB27-12B9-7186-D0FAB3B55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95551-E9E9-48D6-7C51-170D81FA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E9D6-CCBC-4210-9A27-66E457521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351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DD019-C8C7-EF7F-A115-1B399579C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EB895-8E4C-EB5E-025F-1DA8930DB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64080-39C9-AD80-916C-0563A549D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E3CD-3778-4536-801C-7638D768CE0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B3D79-C448-A640-B607-DF1AE3AE2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1786A-2420-C40A-E700-7780359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E9D6-CCBC-4210-9A27-66E457521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480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8140B5-66B0-1B37-DF23-EDE1CA1492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BB5C75-613B-90AF-1C84-E0830B704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57FBC-CEAC-08E4-56DF-5C4BCB5B1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E3CD-3778-4536-801C-7638D768CE0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F9E0D-A9AB-AB08-6199-2C93F3CED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F78D0-195D-74D4-D8E9-1B95A975C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E9D6-CCBC-4210-9A27-66E457521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077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991B1C-6CE9-6DDC-6123-0B7DEE83B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7FD75-ECD7-E7D2-6544-ECBD4F3AF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D71FE-831A-4DF0-3E69-36B1E3DCD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9E3CD-3778-4536-801C-7638D768CE0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7FCB-9D96-F655-D946-5A47E342F9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7BA1F-7599-C06A-0217-E053D2382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EAE9D6-CCBC-4210-9A27-66E457521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135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00BA-7684-C9BF-4D15-E0ECE39E63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sz="3600" dirty="0" err="1">
                <a:solidFill>
                  <a:srgbClr val="FF0000"/>
                </a:solidFill>
                <a:latin typeface="Calibri" panose="020F0502020204030204" pitchFamily="34" charset="0"/>
              </a:rPr>
              <a:t>WeatherGuardian</a:t>
            </a:r>
            <a:r>
              <a:rPr lang="en-IN" sz="3600" dirty="0">
                <a:solidFill>
                  <a:srgbClr val="FF0000"/>
                </a:solidFill>
                <a:latin typeface="Calibri" panose="020F0502020204030204" pitchFamily="34" charset="0"/>
              </a:rPr>
              <a:t> AI: An Agentic and Service-Oriented Framework for Intelligent Weather Advisory Management</a:t>
            </a:r>
            <a:br>
              <a:rPr lang="en-IN" dirty="0">
                <a:solidFill>
                  <a:schemeClr val="bg2"/>
                </a:solidFill>
                <a:latin typeface="Calibri" panose="020F0502020204030204" pitchFamily="34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A021FE-DCC3-D2E8-F282-F1D8CC6672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Review-2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7912D-C853-0DCD-B24C-1B9976CDB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03" y="4869973"/>
            <a:ext cx="3391194" cy="15622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3A09BB-3D3D-647D-ED90-69F991B3C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8564" y="5147714"/>
            <a:ext cx="3048264" cy="13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40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EE88-EBB2-11AB-0FCC-09B3D4A40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2288B-B5C8-8E3F-4C78-4D6783892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n-IN" b="1" dirty="0"/>
              <a:t>Weather Data Collection:</a:t>
            </a:r>
            <a:r>
              <a:rPr lang="en-IN" dirty="0"/>
              <a:t> Real-time weather data is collected from external weather APIs and processed by the Weather Data Service. </a:t>
            </a:r>
          </a:p>
          <a:p>
            <a:pPr lvl="0"/>
            <a:r>
              <a:rPr lang="en-IN" b="1" dirty="0"/>
              <a:t>Risk Analysis:</a:t>
            </a:r>
            <a:r>
              <a:rPr lang="en-IN" dirty="0"/>
              <a:t> The collected data is </a:t>
            </a:r>
            <a:r>
              <a:rPr lang="en-IN" dirty="0" err="1"/>
              <a:t>analyzed</a:t>
            </a:r>
            <a:r>
              <a:rPr lang="en-IN" dirty="0"/>
              <a:t> to identify potential risks such as heavy rainfall, extreme heat, storms, and strong winds. </a:t>
            </a:r>
          </a:p>
          <a:p>
            <a:pPr lvl="0"/>
            <a:r>
              <a:rPr lang="en-IN" b="1" dirty="0"/>
              <a:t>AI Advisory Generation:</a:t>
            </a:r>
            <a:r>
              <a:rPr lang="en-IN" dirty="0"/>
              <a:t> The </a:t>
            </a:r>
            <a:r>
              <a:rPr lang="en-IN" dirty="0" err="1"/>
              <a:t>analyzed</a:t>
            </a:r>
            <a:r>
              <a:rPr lang="en-IN" dirty="0"/>
              <a:t> weather conditions are processed by the AI Advisory Service to generate meaningful and actionable recommendations. </a:t>
            </a:r>
          </a:p>
          <a:p>
            <a:pPr lvl="0"/>
            <a:r>
              <a:rPr lang="en-IN" b="1" dirty="0"/>
              <a:t>Adaptive Agentic Mechanism:</a:t>
            </a:r>
            <a:r>
              <a:rPr lang="en-IN" dirty="0"/>
              <a:t> The system continuously responds to changing weather conditions and updates recommendations accordingly. </a:t>
            </a:r>
          </a:p>
          <a:p>
            <a:pPr lvl="0"/>
            <a:r>
              <a:rPr lang="en-IN" b="1" dirty="0"/>
              <a:t>Forecast &amp; Notifications:</a:t>
            </a:r>
            <a:r>
              <a:rPr lang="en-IN" dirty="0"/>
              <a:t> Forecast information is provided, while critical weather conditions trigger timely alerts and notifications. </a:t>
            </a:r>
          </a:p>
          <a:p>
            <a:pPr lvl="0"/>
            <a:r>
              <a:rPr lang="en-IN" b="1" dirty="0"/>
              <a:t>SOA-Based Integration:</a:t>
            </a:r>
            <a:r>
              <a:rPr lang="en-IN" dirty="0"/>
              <a:t> Independent and reusable services communicate through RESTful APIs, making the system flexible, scalable, and maintainable.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1517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05BDC-AA49-1005-32DF-0C6F47614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</a:t>
            </a:r>
            <a:r>
              <a:rPr lang="en-US" sz="4800" dirty="0"/>
              <a:t>Result</a:t>
            </a:r>
            <a:endParaRPr lang="en-IN" sz="4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876382-BC75-F2A8-84EB-4A3E1B48B4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7942" y="1690687"/>
            <a:ext cx="9937228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821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7200C-B10F-C44F-AEE2-B11E19E67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23"/>
            <a:ext cx="10515600" cy="825909"/>
          </a:xfrm>
        </p:spPr>
        <p:txBody>
          <a:bodyPr/>
          <a:lstStyle/>
          <a:p>
            <a:r>
              <a:rPr lang="en-US" dirty="0"/>
              <a:t>                             Base Paper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FCEEF-5195-004A-E57D-11B69A644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2890"/>
            <a:ext cx="10515600" cy="5174073"/>
          </a:xfrm>
        </p:spPr>
        <p:txBody>
          <a:bodyPr>
            <a:normAutofit fontScale="47500" lnSpcReduction="20000"/>
          </a:bodyPr>
          <a:lstStyle/>
          <a:p>
            <a:r>
              <a:rPr lang="en-IN" b="1" dirty="0"/>
              <a:t>Title:</a:t>
            </a:r>
            <a:r>
              <a:rPr lang="en-IN" dirty="0"/>
              <a:t> </a:t>
            </a:r>
            <a:r>
              <a:rPr lang="en-IN" i="1" dirty="0"/>
              <a:t>Explainable AI-Based Interface System for Weather Forecasting Model</a:t>
            </a:r>
            <a:br>
              <a:rPr lang="en-IN" dirty="0"/>
            </a:br>
            <a:r>
              <a:rPr lang="en-IN" b="1" dirty="0"/>
              <a:t>Authors:</a:t>
            </a:r>
            <a:r>
              <a:rPr lang="en-IN" dirty="0"/>
              <a:t> Soyeon Kim et al.</a:t>
            </a:r>
            <a:br>
              <a:rPr lang="en-IN" dirty="0"/>
            </a:br>
            <a:r>
              <a:rPr lang="en-IN" b="1" dirty="0"/>
              <a:t>Year:</a:t>
            </a:r>
            <a:r>
              <a:rPr lang="en-IN" dirty="0"/>
              <a:t> 2025 </a:t>
            </a:r>
          </a:p>
          <a:p>
            <a:pPr marL="0" indent="0">
              <a:buNone/>
            </a:pPr>
            <a:r>
              <a:rPr lang="en-IN" b="1" dirty="0"/>
              <a:t>Methodology:</a:t>
            </a:r>
            <a:endParaRPr lang="en-IN" dirty="0"/>
          </a:p>
          <a:p>
            <a:pPr lvl="0"/>
            <a:r>
              <a:rPr lang="en-IN" dirty="0"/>
              <a:t>Uses a </a:t>
            </a:r>
            <a:r>
              <a:rPr lang="en-IN" b="1" dirty="0"/>
              <a:t>deep-learning precipitation forecasting model (UNet2)</a:t>
            </a:r>
            <a:r>
              <a:rPr lang="en-IN" dirty="0"/>
              <a:t> for short-term rainfall prediction. </a:t>
            </a:r>
          </a:p>
          <a:p>
            <a:pPr lvl="0"/>
            <a:r>
              <a:rPr lang="en-IN" dirty="0"/>
              <a:t>Applies </a:t>
            </a:r>
            <a:r>
              <a:rPr lang="en-IN" b="1" dirty="0"/>
              <a:t>User-</a:t>
            </a:r>
            <a:r>
              <a:rPr lang="en-IN" b="1" dirty="0" err="1"/>
              <a:t>Centered</a:t>
            </a:r>
            <a:r>
              <a:rPr lang="en-IN" b="1" dirty="0"/>
              <a:t> Explainable AI (XAI)</a:t>
            </a:r>
            <a:r>
              <a:rPr lang="en-IN" dirty="0"/>
              <a:t> to make weather predictions understandable. </a:t>
            </a:r>
          </a:p>
          <a:p>
            <a:pPr lvl="0"/>
            <a:r>
              <a:rPr lang="en-IN" dirty="0"/>
              <a:t>Uses </a:t>
            </a:r>
            <a:r>
              <a:rPr lang="en-IN" b="1" dirty="0"/>
              <a:t>feature attribution</a:t>
            </a:r>
            <a:r>
              <a:rPr lang="en-IN" dirty="0"/>
              <a:t> to explain the model's reasoning. </a:t>
            </a:r>
          </a:p>
          <a:p>
            <a:pPr lvl="0"/>
            <a:r>
              <a:rPr lang="en-IN" dirty="0"/>
              <a:t>Uses </a:t>
            </a:r>
            <a:r>
              <a:rPr lang="en-IN" b="1" dirty="0"/>
              <a:t>probability calibration</a:t>
            </a:r>
            <a:r>
              <a:rPr lang="en-IN" dirty="0"/>
              <a:t> to show prediction confidence. </a:t>
            </a:r>
          </a:p>
          <a:p>
            <a:pPr lvl="0"/>
            <a:r>
              <a:rPr lang="en-IN" dirty="0"/>
              <a:t>Provides an interactive </a:t>
            </a:r>
            <a:r>
              <a:rPr lang="en-IN" b="1" dirty="0"/>
              <a:t>XAI interface</a:t>
            </a:r>
            <a:r>
              <a:rPr lang="en-IN" dirty="0"/>
              <a:t> based on user feedback. </a:t>
            </a:r>
          </a:p>
          <a:p>
            <a:pPr marL="0" indent="0">
              <a:buNone/>
            </a:pPr>
            <a:r>
              <a:rPr lang="en-IN" b="1" dirty="0"/>
              <a:t>Key Findings:</a:t>
            </a:r>
            <a:endParaRPr lang="en-IN" dirty="0"/>
          </a:p>
          <a:p>
            <a:pPr lvl="0"/>
            <a:r>
              <a:rPr lang="en-IN" dirty="0"/>
              <a:t>XAI explanations improved </a:t>
            </a:r>
            <a:r>
              <a:rPr lang="en-IN" b="1" dirty="0"/>
              <a:t>user trust and decision utility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Users preferred </a:t>
            </a:r>
            <a:r>
              <a:rPr lang="en-IN" b="1" dirty="0"/>
              <a:t>simple and intuitive explanations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The system demonstrated the importance of user-</a:t>
            </a:r>
            <a:r>
              <a:rPr lang="en-IN" dirty="0" err="1"/>
              <a:t>centered</a:t>
            </a:r>
            <a:r>
              <a:rPr lang="en-IN" dirty="0"/>
              <a:t> design in weather AI. </a:t>
            </a:r>
          </a:p>
          <a:p>
            <a:pPr marL="0" indent="0">
              <a:buNone/>
            </a:pPr>
            <a:r>
              <a:rPr lang="en-IN" b="1" dirty="0"/>
              <a:t>Limitations / Research Gap:</a:t>
            </a:r>
            <a:endParaRPr lang="en-IN" dirty="0"/>
          </a:p>
          <a:p>
            <a:pPr lvl="0"/>
            <a:r>
              <a:rPr lang="en-IN" dirty="0"/>
              <a:t>Focuses mainly on </a:t>
            </a:r>
            <a:r>
              <a:rPr lang="en-IN" b="1" dirty="0"/>
              <a:t>rainfall forecasting and explanation</a:t>
            </a:r>
            <a:r>
              <a:rPr lang="en-IN" dirty="0"/>
              <a:t>, not complete weather advisory management. </a:t>
            </a:r>
          </a:p>
          <a:p>
            <a:pPr lvl="0"/>
            <a:r>
              <a:rPr lang="en-IN" dirty="0"/>
              <a:t>Feature-attribution explanations can be difficult for users to understand. </a:t>
            </a:r>
          </a:p>
          <a:p>
            <a:pPr lvl="0"/>
            <a:r>
              <a:rPr lang="en-IN" dirty="0"/>
              <a:t>The interface has limited interaction and does not provide high-level conversational interaction. </a:t>
            </a:r>
          </a:p>
          <a:p>
            <a:pPr lvl="0"/>
            <a:r>
              <a:rPr lang="en-IN" dirty="0"/>
              <a:t>Larger and multimodal datasets are suggested for future improvement. </a:t>
            </a:r>
          </a:p>
          <a:p>
            <a:pPr marL="0" indent="0">
              <a:buNone/>
            </a:pPr>
            <a:r>
              <a:rPr lang="en-IN" b="1" dirty="0"/>
              <a:t>How Our Project Extends It:</a:t>
            </a:r>
            <a:endParaRPr lang="en-IN" dirty="0"/>
          </a:p>
          <a:p>
            <a:r>
              <a:rPr lang="en-IN" dirty="0"/>
              <a:t>Our </a:t>
            </a:r>
            <a:r>
              <a:rPr lang="en-IN" b="1" dirty="0" err="1"/>
              <a:t>WeatherGuardian</a:t>
            </a:r>
            <a:r>
              <a:rPr lang="en-IN" b="1" dirty="0"/>
              <a:t> AI</a:t>
            </a:r>
            <a:r>
              <a:rPr lang="en-IN" dirty="0"/>
              <a:t> extends explainable weather prediction into an </a:t>
            </a:r>
            <a:r>
              <a:rPr lang="en-IN" b="1" dirty="0"/>
              <a:t>integrated advisory system</a:t>
            </a:r>
            <a:r>
              <a:rPr lang="en-IN" dirty="0"/>
              <a:t> by combining real-time weather data, risk detection, AI-generated recommendations, notifications, adaptive/agentic decision-making, and SOA-based services.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5287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352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WeatherGuardian AI: An Agentic and Service-Oriented Framework for Intelligent Weather Advisory Management </vt:lpstr>
      <vt:lpstr>                         Methodology</vt:lpstr>
      <vt:lpstr>                             Result</vt:lpstr>
      <vt:lpstr>                             Base Paper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SAHASRA MANUKONDA</dc:creator>
  <cp:lastModifiedBy>SAI SAHASRA MANUKONDA</cp:lastModifiedBy>
  <cp:revision>1</cp:revision>
  <dcterms:created xsi:type="dcterms:W3CDTF">2026-09-22T05:25:56Z</dcterms:created>
  <dcterms:modified xsi:type="dcterms:W3CDTF">2026-09-22T05:43:01Z</dcterms:modified>
</cp:coreProperties>
</file>