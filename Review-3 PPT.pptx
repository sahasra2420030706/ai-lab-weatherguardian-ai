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707" r:id="rId4"/>
    <p:sldId id="257" r:id="rId5"/>
    <p:sldId id="259" r:id="rId6"/>
    <p:sldId id="260" r:id="rId7"/>
    <p:sldId id="904" r:id="rId8"/>
    <p:sldId id="902" r:id="rId9"/>
    <p:sldId id="258" r:id="rId10"/>
    <p:sldId id="903" r:id="rId11"/>
    <p:sldId id="906" r:id="rId12"/>
    <p:sldId id="909" r:id="rId13"/>
    <p:sldId id="91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7</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10/26/2026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26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26 October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26 October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26 October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26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26 October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26 October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10/26/2026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26 October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00110"/>
          </a:xfrm>
          <a:prstGeom prst="rect">
            <a:avLst/>
          </a:prstGeom>
          <a:noFill/>
          <a:effectLst>
            <a:glow rad="139700">
              <a:schemeClr val="accent2">
                <a:satMod val="175000"/>
                <a:alpha val="40000"/>
              </a:schemeClr>
            </a:glow>
          </a:effectLst>
        </p:spPr>
        <p:txBody>
          <a:bodyPr wrap="square">
            <a:spAutoFit/>
          </a:bodyPr>
          <a:lstStyle/>
          <a:p>
            <a:pPr algn="ctr"/>
            <a:r>
              <a:rPr lang="en-IN" sz="2000" b="1" dirty="0">
                <a:solidFill>
                  <a:srgbClr val="FF0000"/>
                </a:solidFill>
                <a:latin typeface="Times New Roman" panose="02020603050405020304" pitchFamily="18" charset="0"/>
                <a:cs typeface="Times New Roman" panose="02020603050405020304" pitchFamily="18" charset="0"/>
              </a:rPr>
              <a:t> September 16</a:t>
            </a:r>
            <a:r>
              <a:rPr lang="en-IN" sz="2000" b="1" baseline="30000" dirty="0">
                <a:solidFill>
                  <a:srgbClr val="FF0000"/>
                </a:solidFill>
                <a:latin typeface="Times New Roman" panose="02020603050405020304" pitchFamily="18" charset="0"/>
                <a:cs typeface="Times New Roman" panose="02020603050405020304" pitchFamily="18" charset="0"/>
              </a:rPr>
              <a:t>th</a:t>
            </a:r>
            <a:r>
              <a:rPr lang="en-IN" sz="2000" b="1" dirty="0">
                <a:solidFill>
                  <a:srgbClr val="FF0000"/>
                </a:solidFill>
                <a:latin typeface="Times New Roman" panose="02020603050405020304" pitchFamily="18" charset="0"/>
                <a:cs typeface="Times New Roman" panose="02020603050405020304" pitchFamily="18" charset="0"/>
              </a:rPr>
              <a: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939682401"/>
              </p:ext>
            </p:extLst>
          </p:nvPr>
        </p:nvGraphicFramePr>
        <p:xfrm>
          <a:off x="8193271" y="4898509"/>
          <a:ext cx="3702050" cy="100584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baseline="0" dirty="0" err="1">
                          <a:solidFill>
                            <a:schemeClr val="dk1"/>
                          </a:solidFill>
                          <a:latin typeface="Times New Roman" panose="02020603050405020304" pitchFamily="18" charset="0"/>
                          <a:ea typeface="Cambria"/>
                          <a:cs typeface="Times New Roman" panose="02020603050405020304" pitchFamily="18" charset="0"/>
                        </a:rPr>
                        <a:t>M.Sai</a:t>
                      </a:r>
                      <a:r>
                        <a:rPr lang="en-IN" sz="1600" b="1" kern="1200" baseline="0" dirty="0">
                          <a:solidFill>
                            <a:schemeClr val="dk1"/>
                          </a:solidFill>
                          <a:latin typeface="Times New Roman" panose="02020603050405020304" pitchFamily="18" charset="0"/>
                          <a:ea typeface="Cambria"/>
                          <a:cs typeface="Times New Roman" panose="02020603050405020304" pitchFamily="18" charset="0"/>
                        </a:rPr>
                        <a:t> Sahasra – </a:t>
                      </a:r>
                      <a:r>
                        <a:rPr lang="en-IN" sz="1400" b="1" kern="1200" dirty="0">
                          <a:solidFill>
                            <a:schemeClr val="dk1"/>
                          </a:solidFill>
                          <a:latin typeface="Times New Roman" panose="02020603050405020304" pitchFamily="18" charset="0"/>
                          <a:ea typeface="Cambria"/>
                          <a:cs typeface="Times New Roman" panose="02020603050405020304" pitchFamily="18" charset="0"/>
                        </a:rPr>
                        <a:t>2420030706</a:t>
                      </a:r>
                    </a:p>
                    <a:p>
                      <a:pPr marL="0" algn="l" defTabSz="914400" rtl="0" eaLnBrk="1" latinLnBrk="0" hangingPunct="1"/>
                      <a:r>
                        <a:rPr lang="en-US" sz="1400" b="1" kern="1200" dirty="0">
                          <a:solidFill>
                            <a:schemeClr val="dk1"/>
                          </a:solidFill>
                          <a:latin typeface="Times New Roman" panose="02020603050405020304" pitchFamily="18" charset="0"/>
                          <a:ea typeface="Cambria"/>
                          <a:cs typeface="Times New Roman" panose="02020603050405020304" pitchFamily="18" charset="0"/>
                        </a:rPr>
                        <a:t>Abhilash Reddy – 2420030595</a:t>
                      </a:r>
                    </a:p>
                    <a:p>
                      <a:pPr marL="0" algn="l" defTabSz="914400" rtl="0" eaLnBrk="1" latinLnBrk="0" hangingPunct="1"/>
                      <a:r>
                        <a:rPr lang="en-US" sz="1400" b="1" kern="1200" baseline="0" dirty="0" err="1">
                          <a:solidFill>
                            <a:schemeClr val="dk1"/>
                          </a:solidFill>
                          <a:latin typeface="Times New Roman" panose="02020603050405020304" pitchFamily="18" charset="0"/>
                          <a:ea typeface="Cambria"/>
                          <a:cs typeface="Times New Roman" panose="02020603050405020304" pitchFamily="18" charset="0"/>
                        </a:rPr>
                        <a:t>Ch.Lucky</a:t>
                      </a:r>
                      <a:r>
                        <a:rPr lang="en-US" sz="1400" b="1" kern="1200" baseline="0" dirty="0">
                          <a:solidFill>
                            <a:schemeClr val="dk1"/>
                          </a:solidFill>
                          <a:latin typeface="Times New Roman" panose="02020603050405020304" pitchFamily="18" charset="0"/>
                          <a:ea typeface="Cambria"/>
                          <a:cs typeface="Times New Roman" panose="02020603050405020304" pitchFamily="18" charset="0"/>
                        </a:rPr>
                        <a:t> </a:t>
                      </a:r>
                      <a:r>
                        <a:rPr lang="en-US" sz="1400" b="1" kern="1200" baseline="0" dirty="0" err="1">
                          <a:solidFill>
                            <a:schemeClr val="dk1"/>
                          </a:solidFill>
                          <a:latin typeface="Times New Roman" panose="02020603050405020304" pitchFamily="18" charset="0"/>
                          <a:ea typeface="Cambria"/>
                          <a:cs typeface="Times New Roman" panose="02020603050405020304" pitchFamily="18" charset="0"/>
                        </a:rPr>
                        <a:t>Redyy</a:t>
                      </a:r>
                      <a:r>
                        <a:rPr lang="en-US" sz="1400" b="1" kern="1200" baseline="0" dirty="0">
                          <a:solidFill>
                            <a:schemeClr val="dk1"/>
                          </a:solidFill>
                          <a:latin typeface="Times New Roman" panose="02020603050405020304" pitchFamily="18" charset="0"/>
                          <a:ea typeface="Cambria"/>
                          <a:cs typeface="Times New Roman" panose="02020603050405020304" pitchFamily="18" charset="0"/>
                        </a:rPr>
                        <a:t>– 2420030739</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108838424"/>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Cherukuvada</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fld id="{6AC1C3D7-1A78-437F-8E79-FA9F45001D93}" type="datetime3">
              <a:rPr lang="en-US" b="1" smtClean="0"/>
              <a:t>26 October 2026</a:t>
            </a:fld>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a:t>SOA </a:t>
            </a:r>
            <a:r>
              <a:rPr lang="en-IN" b="1" dirty="0"/>
              <a:t>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830997"/>
          </a:xfrm>
          <a:prstGeom prst="rect">
            <a:avLst/>
          </a:prstGeom>
          <a:noFill/>
        </p:spPr>
        <p:txBody>
          <a:bodyPr wrap="square">
            <a:spAutoFit/>
          </a:bodyPr>
          <a:lstStyle/>
          <a:p>
            <a:pPr fontAlgn="ctr"/>
            <a:r>
              <a:rPr lang="en-IN" sz="2400" dirty="0" err="1">
                <a:solidFill>
                  <a:schemeClr val="bg2"/>
                </a:solidFill>
                <a:latin typeface="Calibri" panose="020F0502020204030204" pitchFamily="34" charset="0"/>
              </a:rPr>
              <a:t>WeatherGuardian</a:t>
            </a:r>
            <a:r>
              <a:rPr lang="en-IN" sz="2400" dirty="0">
                <a:solidFill>
                  <a:schemeClr val="bg2"/>
                </a:solidFill>
                <a:latin typeface="Calibri" panose="020F0502020204030204" pitchFamily="34" charset="0"/>
              </a:rPr>
              <a:t> AI: An Agentic and Service-Oriented Framework for Intelligent Weather Advisory Management</a:t>
            </a: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Review-3</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CBBD2AD-CA4B-40B7-B7F6-5A567EB7E4C0}" type="datetime3">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26 October 2026</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Ph.D. Viva Voce</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Rectangle 1"/>
          <p:cNvSpPr/>
          <p:nvPr/>
        </p:nvSpPr>
        <p:spPr>
          <a:xfrm>
            <a:off x="700391" y="1816283"/>
            <a:ext cx="10963072" cy="3477875"/>
          </a:xfrm>
          <a:prstGeom prst="rect">
            <a:avLst/>
          </a:prstGeom>
        </p:spPr>
        <p:txBody>
          <a:bodyPr wrap="square">
            <a:spAutoFit/>
          </a:bodyPr>
          <a:lstStyle/>
          <a:p>
            <a:r>
              <a:rPr lang="en-IN" sz="2000" dirty="0"/>
              <a:t>Existing weather applications mainly provide raw weather information such as temperature, humidity, rainfall, wind speed, and forecasts, but they often require users to interpret this information themselves. They may also lack an integrated mechanism for </a:t>
            </a:r>
            <a:r>
              <a:rPr lang="en-IN" sz="2000" dirty="0" err="1"/>
              <a:t>analyzing</a:t>
            </a:r>
            <a:r>
              <a:rPr lang="en-IN" sz="2000" dirty="0"/>
              <a:t> weather conditions, identifying potential risks, and providing personalized and timely advisories. Furthermore, tightly coupled weather applications can be difficult to maintain, scale, and integrate with external services. Therefore, there is a need for an intelligent and flexible weather advisory system that can collect real-time weather data, </a:t>
            </a:r>
            <a:r>
              <a:rPr lang="en-IN" sz="2000" dirty="0" err="1"/>
              <a:t>analyze</a:t>
            </a:r>
            <a:r>
              <a:rPr lang="en-IN" sz="2000" dirty="0"/>
              <a:t> potential risks, generate meaningful recommendations, and deliver timely alerts. The proposed </a:t>
            </a:r>
            <a:r>
              <a:rPr lang="en-IN" sz="2000" b="1" dirty="0" err="1"/>
              <a:t>WeatherGuardian</a:t>
            </a:r>
            <a:r>
              <a:rPr lang="en-IN" sz="2000" b="1" dirty="0"/>
              <a:t> AI</a:t>
            </a:r>
            <a:r>
              <a:rPr lang="en-IN" sz="2000" dirty="0"/>
              <a:t> addresses this problem by using a </a:t>
            </a:r>
            <a:r>
              <a:rPr lang="en-IN" sz="2000" b="1" dirty="0"/>
              <a:t>Service-Oriented Architecture (SOA)</a:t>
            </a:r>
            <a:r>
              <a:rPr lang="en-IN" sz="2000" dirty="0"/>
              <a:t> consisting of independent and reusable services that communicate through APIs, while an AI-based advisory service converts </a:t>
            </a:r>
            <a:r>
              <a:rPr lang="en-IN" sz="2000" dirty="0" err="1"/>
              <a:t>analyzed</a:t>
            </a:r>
            <a:r>
              <a:rPr lang="en-IN" sz="2000" dirty="0"/>
              <a:t> weather information into actionable recommendations.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202396" y="267322"/>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Rectangle 1"/>
          <p:cNvSpPr/>
          <p:nvPr/>
        </p:nvSpPr>
        <p:spPr>
          <a:xfrm>
            <a:off x="599649" y="1399880"/>
            <a:ext cx="10431517" cy="1754326"/>
          </a:xfrm>
          <a:prstGeom prst="rect">
            <a:avLst/>
          </a:prstGeom>
        </p:spPr>
        <p:txBody>
          <a:bodyPr wrap="square">
            <a:spAutoFit/>
          </a:bodyPr>
          <a:lstStyle/>
          <a:p>
            <a:pPr algn="just"/>
            <a:r>
              <a:rPr lang="en-US" b="1" dirty="0"/>
              <a:t>🔹 </a:t>
            </a:r>
            <a:r>
              <a:rPr lang="en-US" b="1" dirty="0">
                <a:latin typeface="Calibri" panose="020F0502020204030204" pitchFamily="34" charset="0"/>
                <a:ea typeface="Calibri" panose="020F0502020204030204" pitchFamily="34" charset="0"/>
                <a:cs typeface="Calibri" panose="020F0502020204030204" pitchFamily="34" charset="0"/>
              </a:rPr>
              <a:t>Innovation:</a:t>
            </a:r>
          </a:p>
          <a:p>
            <a:pPr marL="285750" lvl="0" indent="-285750">
              <a:buFont typeface="Arial" panose="020B0604020202020204" pitchFamily="34" charset="0"/>
              <a:buChar char="•"/>
            </a:pPr>
            <a:r>
              <a:rPr lang="en-IN" dirty="0"/>
              <a:t>The system uses AI to convert real-time weather data into meaningful and actionable recommendations.</a:t>
            </a:r>
          </a:p>
          <a:p>
            <a:pPr marL="285750" lvl="0" indent="-285750">
              <a:buFont typeface="Arial" panose="020B0604020202020204" pitchFamily="34" charset="0"/>
              <a:buChar char="•"/>
            </a:pPr>
            <a:r>
              <a:rPr lang="en-IN" dirty="0"/>
              <a:t>It automatically detects potential weather risks such as heavy rainfall, extreme heat, and strong winds.</a:t>
            </a:r>
          </a:p>
          <a:p>
            <a:pPr marL="285750" lvl="0" indent="-285750">
              <a:buFont typeface="Arial" panose="020B0604020202020204" pitchFamily="34" charset="0"/>
              <a:buChar char="•"/>
            </a:pPr>
            <a:r>
              <a:rPr lang="en-IN" dirty="0"/>
              <a:t>It monitors changing weather conditions and updates advisories in real time.</a:t>
            </a:r>
          </a:p>
        </p:txBody>
      </p:sp>
      <p:sp>
        <p:nvSpPr>
          <p:cNvPr id="4" name="Rectangle 3"/>
          <p:cNvSpPr/>
          <p:nvPr/>
        </p:nvSpPr>
        <p:spPr>
          <a:xfrm>
            <a:off x="599649" y="3343598"/>
            <a:ext cx="8728841" cy="1477328"/>
          </a:xfrm>
          <a:prstGeom prst="rect">
            <a:avLst/>
          </a:prstGeom>
        </p:spPr>
        <p:txBody>
          <a:bodyPr wrap="square">
            <a:spAutoFit/>
          </a:bodyPr>
          <a:lstStyle/>
          <a:p>
            <a:r>
              <a:rPr lang="en-US" b="1" dirty="0"/>
              <a:t>🔹 </a:t>
            </a:r>
            <a:r>
              <a:rPr lang="en-US" b="1" dirty="0">
                <a:latin typeface="Calibri" panose="020F0502020204030204" pitchFamily="34" charset="0"/>
                <a:ea typeface="Calibri" panose="020F0502020204030204" pitchFamily="34" charset="0"/>
                <a:cs typeface="Calibri" panose="020F0502020204030204" pitchFamily="34" charset="0"/>
              </a:rPr>
              <a:t>Creativity:</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 </a:t>
            </a:r>
            <a:r>
              <a:rPr lang="en-IN" dirty="0"/>
              <a:t>The system provides personalized weather recommendations based on weather conditions and user context.</a:t>
            </a:r>
          </a:p>
          <a:p>
            <a:pPr marL="285750" lvl="0" indent="-285750">
              <a:buFont typeface="Arial" panose="020B0604020202020204" pitchFamily="34" charset="0"/>
              <a:buChar char="•"/>
            </a:pPr>
            <a:r>
              <a:rPr lang="en-IN" dirty="0"/>
              <a:t>It delivers simple and user-friendly alerts to help users understand potential risks.</a:t>
            </a: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 name="Rectangle 1"/>
          <p:cNvSpPr>
            <a:spLocks noChangeArrowheads="1"/>
          </p:cNvSpPr>
          <p:nvPr/>
        </p:nvSpPr>
        <p:spPr bwMode="auto">
          <a:xfrm>
            <a:off x="599649" y="4973531"/>
            <a:ext cx="108872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solidFill>
                  <a:schemeClr val="tx1"/>
                </a:solidFill>
                <a:effectLst/>
                <a:latin typeface="Arial" panose="020B0604020202020204" pitchFamily="34" charset="0"/>
              </a:rPr>
              <a:t>🔹 </a:t>
            </a:r>
            <a:r>
              <a:rPr kumimoji="0" 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Novelty:</a:t>
            </a:r>
          </a:p>
          <a:p>
            <a:pPr lvl="0"/>
            <a:r>
              <a:rPr lang="en-IN" dirty="0"/>
              <a:t>The system incorporates agentic AI to support adaptive decision-making and automatic advisory updates.</a:t>
            </a:r>
          </a:p>
        </p:txBody>
      </p:sp>
    </p:spTree>
    <p:extLst>
      <p:ext uri="{BB962C8B-B14F-4D97-AF65-F5344CB8AC3E}">
        <p14:creationId xmlns:p14="http://schemas.microsoft.com/office/powerpoint/2010/main" val="3524135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1710709" y="268607"/>
            <a:ext cx="7234014" cy="707886"/>
          </a:xfrm>
          <a:prstGeom prst="rect">
            <a:avLst/>
          </a:prstGeom>
          <a:noFill/>
        </p:spPr>
        <p:txBody>
          <a:bodyPr wrap="square">
            <a:spAutoFit/>
          </a:bodyPr>
          <a:lstStyle/>
          <a:p>
            <a:pPr algn="ctr"/>
            <a:r>
              <a:rPr lang="en-US" sz="4000" b="1" dirty="0"/>
              <a:t>Feasibility</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Rectangle 2"/>
          <p:cNvSpPr/>
          <p:nvPr/>
        </p:nvSpPr>
        <p:spPr>
          <a:xfrm>
            <a:off x="518807" y="1122408"/>
            <a:ext cx="11329482" cy="4247317"/>
          </a:xfrm>
          <a:prstGeom prst="rect">
            <a:avLst/>
          </a:prstGeom>
        </p:spPr>
        <p:txBody>
          <a:bodyPr wrap="square">
            <a:spAutoFit/>
          </a:bodyPr>
          <a:lstStyle/>
          <a:p>
            <a:r>
              <a:rPr lang="en-US" b="1" dirty="0"/>
              <a:t>1. </a:t>
            </a:r>
            <a:r>
              <a:rPr lang="en-US" b="1" dirty="0">
                <a:latin typeface="Calibri" panose="020F0502020204030204" pitchFamily="34" charset="0"/>
                <a:ea typeface="Calibri" panose="020F0502020204030204" pitchFamily="34" charset="0"/>
                <a:cs typeface="Calibri" panose="020F0502020204030204" pitchFamily="34" charset="0"/>
              </a:rPr>
              <a:t>Technical Feasibility:</a:t>
            </a:r>
          </a:p>
          <a:p>
            <a:pPr marL="285750" lvl="0" indent="-285750">
              <a:buFont typeface="Arial" panose="020B0604020202020204" pitchFamily="34" charset="0"/>
              <a:buChar char="•"/>
            </a:pPr>
            <a:r>
              <a:rPr lang="en-US" dirty="0"/>
              <a:t> </a:t>
            </a:r>
            <a:r>
              <a:rPr lang="en-IN" dirty="0"/>
              <a:t>The system can be developed using Python, AI/ML techniques, weather APIs, and RESTful services.</a:t>
            </a:r>
          </a:p>
          <a:p>
            <a:pPr marL="285750" lvl="0" indent="-285750">
              <a:buFont typeface="Arial" panose="020B0604020202020204" pitchFamily="34" charset="0"/>
              <a:buChar char="•"/>
            </a:pPr>
            <a:r>
              <a:rPr lang="en-IN" dirty="0"/>
              <a:t>Real-time weather data can be collected from external weather APIs.</a:t>
            </a:r>
          </a:p>
          <a:p>
            <a:pPr marL="285750" lvl="0" indent="-285750">
              <a:buFont typeface="Arial" panose="020B0604020202020204" pitchFamily="34" charset="0"/>
              <a:buChar char="•"/>
            </a:pPr>
            <a:r>
              <a:rPr lang="en-IN" dirty="0"/>
              <a:t>The dashboard can be developed using React or </a:t>
            </a:r>
            <a:r>
              <a:rPr lang="en-IN" dirty="0" err="1"/>
              <a:t>Streamlit</a:t>
            </a:r>
            <a:r>
              <a:rPr lang="en-IN" dirty="0"/>
              <a:t>.</a:t>
            </a:r>
          </a:p>
          <a:p>
            <a:pPr marL="285750" lvl="0" indent="-285750">
              <a:buFont typeface="Arial" panose="020B0604020202020204" pitchFamily="34" charset="0"/>
              <a:buChar char="•"/>
            </a:pPr>
            <a:r>
              <a:rPr lang="en-IN" dirty="0"/>
              <a:t>SOA can be implemented using independent services for scalability and maintainability.</a:t>
            </a:r>
          </a:p>
          <a:p>
            <a:pPr>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t>2. </a:t>
            </a:r>
            <a:r>
              <a:rPr lang="en-US" b="1" dirty="0">
                <a:latin typeface="Calibri" panose="020F0502020204030204" pitchFamily="34" charset="0"/>
                <a:ea typeface="Calibri" panose="020F0502020204030204" pitchFamily="34" charset="0"/>
                <a:cs typeface="Calibri" panose="020F0502020204030204" pitchFamily="34" charset="0"/>
              </a:rPr>
              <a:t>Economic Feasibility:</a:t>
            </a:r>
          </a:p>
          <a:p>
            <a:pPr marL="285750" lvl="0" indent="-285750">
              <a:buFont typeface="Arial" panose="020B0604020202020204" pitchFamily="34" charset="0"/>
              <a:buChar char="•"/>
            </a:pPr>
            <a:r>
              <a:rPr lang="en-IN" dirty="0"/>
              <a:t>The project can be developed using open-source tools and libraries.</a:t>
            </a:r>
          </a:p>
          <a:p>
            <a:pPr marL="285750" lvl="0" indent="-285750">
              <a:buFont typeface="Arial" panose="020B0604020202020204" pitchFamily="34" charset="0"/>
              <a:buChar char="•"/>
            </a:pPr>
            <a:r>
              <a:rPr lang="en-IN" dirty="0"/>
              <a:t>Weather APIs may provide free or developer-level access.</a:t>
            </a:r>
          </a:p>
          <a:p>
            <a:pPr marL="285750" lvl="0" indent="-285750">
              <a:buFont typeface="Arial" panose="020B0604020202020204" pitchFamily="34" charset="0"/>
              <a:buChar char="•"/>
            </a:pPr>
            <a:r>
              <a:rPr lang="en-IN" dirty="0"/>
              <a:t>No expensive hardware is required for basic implementation.</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3. Operational Feasibility:</a:t>
            </a:r>
          </a:p>
          <a:p>
            <a:pPr marL="285750" lvl="0" indent="-285750">
              <a:buFont typeface="Arial" panose="020B0604020202020204" pitchFamily="34" charset="0"/>
              <a:buChar char="•"/>
            </a:pPr>
            <a:r>
              <a:rPr lang="en-IN" dirty="0"/>
              <a:t>The system provides a simple and user-friendly dashboard.</a:t>
            </a:r>
          </a:p>
          <a:p>
            <a:pPr marL="285750" lvl="0" indent="-285750">
              <a:buFont typeface="Arial" panose="020B0604020202020204" pitchFamily="34" charset="0"/>
              <a:buChar char="•"/>
            </a:pPr>
            <a:r>
              <a:rPr lang="en-IN" dirty="0"/>
              <a:t>It automatically </a:t>
            </a:r>
            <a:r>
              <a:rPr lang="en-IN" dirty="0" err="1"/>
              <a:t>analyzes</a:t>
            </a:r>
            <a:r>
              <a:rPr lang="en-IN" dirty="0"/>
              <a:t> weather conditions and generates advisories.</a:t>
            </a:r>
          </a:p>
          <a:p>
            <a:pPr marL="285750" lvl="0" indent="-285750">
              <a:buFont typeface="Arial" panose="020B0604020202020204" pitchFamily="34" charset="0"/>
              <a:buChar char="•"/>
            </a:pPr>
            <a:r>
              <a:rPr lang="en-IN" dirty="0"/>
              <a:t>It can support daily activities, travel planning, agriculture, and weather safety awareness.</a:t>
            </a:r>
          </a:p>
        </p:txBody>
      </p:sp>
    </p:spTree>
    <p:extLst>
      <p:ext uri="{BB962C8B-B14F-4D97-AF65-F5344CB8AC3E}">
        <p14:creationId xmlns:p14="http://schemas.microsoft.com/office/powerpoint/2010/main" val="4118855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8949" y="-243191"/>
            <a:ext cx="10515600" cy="1325563"/>
          </a:xfrm>
        </p:spPr>
        <p:txBody>
          <a:bodyPr/>
          <a:lstStyle/>
          <a:p>
            <a:r>
              <a:rPr lang="en-US" b="1" dirty="0">
                <a:latin typeface="+mn-lt"/>
              </a:rPr>
              <a:t>Project Plan</a:t>
            </a:r>
            <a:endParaRPr lang="en-IN" b="1"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235156858"/>
              </p:ext>
            </p:extLst>
          </p:nvPr>
        </p:nvGraphicFramePr>
        <p:xfrm>
          <a:off x="1177046" y="1031136"/>
          <a:ext cx="10165404" cy="5630173"/>
        </p:xfrm>
        <a:graphic>
          <a:graphicData uri="http://schemas.openxmlformats.org/drawingml/2006/table">
            <a:tbl>
              <a:tblPr/>
              <a:tblGrid>
                <a:gridCol w="2402733">
                  <a:extLst>
                    <a:ext uri="{9D8B030D-6E8A-4147-A177-3AD203B41FA5}">
                      <a16:colId xmlns:a16="http://schemas.microsoft.com/office/drawing/2014/main" val="20000"/>
                    </a:ext>
                  </a:extLst>
                </a:gridCol>
                <a:gridCol w="4374203">
                  <a:extLst>
                    <a:ext uri="{9D8B030D-6E8A-4147-A177-3AD203B41FA5}">
                      <a16:colId xmlns:a16="http://schemas.microsoft.com/office/drawing/2014/main" val="20001"/>
                    </a:ext>
                  </a:extLst>
                </a:gridCol>
                <a:gridCol w="3388468">
                  <a:extLst>
                    <a:ext uri="{9D8B030D-6E8A-4147-A177-3AD203B41FA5}">
                      <a16:colId xmlns:a16="http://schemas.microsoft.com/office/drawing/2014/main" val="20002"/>
                    </a:ext>
                  </a:extLst>
                </a:gridCol>
              </a:tblGrid>
              <a:tr h="270499">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Phase</a:t>
                      </a:r>
                    </a:p>
                  </a:txBody>
                  <a:tcPr marL="52426" marR="52426" marT="26213" marB="26213" anchor="ctr">
                    <a:lnL>
                      <a:noFill/>
                    </a:lnL>
                    <a:lnR>
                      <a:noFill/>
                    </a:lnR>
                    <a:lnT>
                      <a:noFill/>
                    </a:lnT>
                    <a:lnB>
                      <a:noFill/>
                    </a:lnB>
                  </a:tcPr>
                </a:tc>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Major Activities</a:t>
                      </a:r>
                    </a:p>
                  </a:txBody>
                  <a:tcPr marL="52426" marR="52426" marT="26213" marB="26213" anchor="ctr">
                    <a:lnL>
                      <a:noFill/>
                    </a:lnL>
                    <a:lnR>
                      <a:noFill/>
                    </a:lnR>
                    <a:lnT>
                      <a:noFill/>
                    </a:lnT>
                    <a:lnB>
                      <a:noFill/>
                    </a:lnB>
                  </a:tcPr>
                </a:tc>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Timeline</a:t>
                      </a:r>
                    </a:p>
                  </a:txBody>
                  <a:tcPr marL="52426" marR="52426" marT="26213" marB="26213" anchor="ctr">
                    <a:lnL>
                      <a:noFill/>
                    </a:lnL>
                    <a:lnR>
                      <a:noFill/>
                    </a:lnR>
                    <a:lnT>
                      <a:noFill/>
                    </a:lnT>
                    <a:lnB>
                      <a:noFill/>
                    </a:lnB>
                  </a:tcPr>
                </a:tc>
                <a:extLst>
                  <a:ext uri="{0D108BD9-81ED-4DB2-BD59-A6C34878D82A}">
                    <a16:rowId xmlns:a16="http://schemas.microsoft.com/office/drawing/2014/main" val="10000"/>
                  </a:ext>
                </a:extLst>
              </a:tr>
              <a:tr h="676248">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Phase 1</a:t>
                      </a:r>
                    </a:p>
                  </a:txBody>
                  <a:tcPr marL="52426" marR="52426" marT="26213" marB="26213" anchor="ctr">
                    <a:lnL>
                      <a:noFill/>
                    </a:lnL>
                    <a:lnR>
                      <a:noFill/>
                    </a:lnR>
                    <a:lnT>
                      <a:noFill/>
                    </a:lnT>
                    <a:lnB>
                      <a:noFill/>
                    </a:lnB>
                  </a:tcPr>
                </a:tc>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Literature survey, problem identification &amp; requirements</a:t>
                      </a:r>
                    </a:p>
                  </a:txBody>
                  <a:tcPr marL="52426" marR="52426" marT="26213" marB="26213" anchor="ctr">
                    <a:lnL>
                      <a:noFill/>
                    </a:lnL>
                    <a:lnR>
                      <a:noFill/>
                    </a:lnR>
                    <a:lnT>
                      <a:noFill/>
                    </a:lnT>
                    <a:lnB>
                      <a:noFill/>
                    </a:lnB>
                  </a:tcPr>
                </a:tc>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Week 1–2</a:t>
                      </a:r>
                    </a:p>
                  </a:txBody>
                  <a:tcPr marL="52426" marR="52426" marT="26213" marB="26213" anchor="ctr">
                    <a:lnL>
                      <a:noFill/>
                    </a:lnL>
                    <a:lnR>
                      <a:noFill/>
                    </a:lnR>
                    <a:lnT>
                      <a:noFill/>
                    </a:lnT>
                    <a:lnB>
                      <a:noFill/>
                    </a:lnB>
                  </a:tcPr>
                </a:tc>
                <a:extLst>
                  <a:ext uri="{0D108BD9-81ED-4DB2-BD59-A6C34878D82A}">
                    <a16:rowId xmlns:a16="http://schemas.microsoft.com/office/drawing/2014/main" val="10001"/>
                  </a:ext>
                </a:extLst>
              </a:tr>
              <a:tr h="473373">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Phase 2</a:t>
                      </a:r>
                    </a:p>
                  </a:txBody>
                  <a:tcPr marL="52426" marR="52426" marT="26213" marB="26213" anchor="ctr">
                    <a:lnL>
                      <a:noFill/>
                    </a:lnL>
                    <a:lnR>
                      <a:noFill/>
                    </a:lnR>
                    <a:lnT>
                      <a:noFill/>
                    </a:lnT>
                    <a:lnB>
                      <a:noFill/>
                    </a:lnB>
                  </a:tcPr>
                </a:tc>
                <a:tc>
                  <a:txBody>
                    <a:bodyPr/>
                    <a:lstStyle/>
                    <a:p>
                      <a:r>
                        <a:rPr lang="en-US" sz="1400" b="1">
                          <a:latin typeface="Calibri" panose="020F0502020204030204" pitchFamily="34" charset="0"/>
                          <a:ea typeface="Calibri" panose="020F0502020204030204" pitchFamily="34" charset="0"/>
                          <a:cs typeface="Calibri" panose="020F0502020204030204" pitchFamily="34" charset="0"/>
                        </a:rPr>
                        <a:t>SOA architecture and system design</a:t>
                      </a:r>
                    </a:p>
                  </a:txBody>
                  <a:tcPr marL="52426" marR="52426" marT="26213" marB="26213" anchor="ctr">
                    <a:lnL>
                      <a:noFill/>
                    </a:lnL>
                    <a:lnR>
                      <a:noFill/>
                    </a:lnR>
                    <a:lnT>
                      <a:noFill/>
                    </a:lnT>
                    <a:lnB>
                      <a:noFill/>
                    </a:lnB>
                  </a:tcPr>
                </a:tc>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Week 3</a:t>
                      </a:r>
                    </a:p>
                  </a:txBody>
                  <a:tcPr marL="52426" marR="52426" marT="26213" marB="26213" anchor="ctr">
                    <a:lnL>
                      <a:noFill/>
                    </a:lnL>
                    <a:lnR>
                      <a:noFill/>
                    </a:lnR>
                    <a:lnT>
                      <a:noFill/>
                    </a:lnT>
                    <a:lnB>
                      <a:noFill/>
                    </a:lnB>
                  </a:tcPr>
                </a:tc>
                <a:extLst>
                  <a:ext uri="{0D108BD9-81ED-4DB2-BD59-A6C34878D82A}">
                    <a16:rowId xmlns:a16="http://schemas.microsoft.com/office/drawing/2014/main" val="10002"/>
                  </a:ext>
                </a:extLst>
              </a:tr>
              <a:tr h="473373">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Phase 3</a:t>
                      </a:r>
                    </a:p>
                  </a:txBody>
                  <a:tcPr marL="52426" marR="52426" marT="26213" marB="26213" anchor="ctr">
                    <a:lnL>
                      <a:noFill/>
                    </a:lnL>
                    <a:lnR>
                      <a:noFill/>
                    </a:lnR>
                    <a:lnT>
                      <a:noFill/>
                    </a:lnT>
                    <a:lnB>
                      <a:noFill/>
                    </a:lnB>
                  </a:tcPr>
                </a:tc>
                <a:tc>
                  <a:txBody>
                    <a:bodyPr/>
                    <a:lstStyle/>
                    <a:p>
                      <a:r>
                        <a:rPr lang="en-IN" sz="1400" b="1" dirty="0"/>
                        <a:t>Weather dataset preparation and data collection using weather APIs</a:t>
                      </a:r>
                      <a:endParaRPr lang="en-IN" sz="1400" b="1" dirty="0">
                        <a:latin typeface="Calibri" panose="020F0502020204030204" pitchFamily="34" charset="0"/>
                        <a:ea typeface="Calibri" panose="020F0502020204030204" pitchFamily="34" charset="0"/>
                        <a:cs typeface="Calibri" panose="020F0502020204030204" pitchFamily="34" charset="0"/>
                      </a:endParaRPr>
                    </a:p>
                  </a:txBody>
                  <a:tcPr marL="52426" marR="52426" marT="26213" marB="26213" anchor="ctr">
                    <a:lnL>
                      <a:noFill/>
                    </a:lnL>
                    <a:lnR>
                      <a:noFill/>
                    </a:lnR>
                    <a:lnT>
                      <a:noFill/>
                    </a:lnT>
                    <a:lnB>
                      <a:noFill/>
                    </a:lnB>
                  </a:tcPr>
                </a:tc>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Week 4–5</a:t>
                      </a:r>
                    </a:p>
                  </a:txBody>
                  <a:tcPr marL="52426" marR="52426" marT="26213" marB="26213" anchor="ctr">
                    <a:lnL>
                      <a:noFill/>
                    </a:lnL>
                    <a:lnR>
                      <a:noFill/>
                    </a:lnR>
                    <a:lnT>
                      <a:noFill/>
                    </a:lnT>
                    <a:lnB>
                      <a:noFill/>
                    </a:lnB>
                  </a:tcPr>
                </a:tc>
                <a:extLst>
                  <a:ext uri="{0D108BD9-81ED-4DB2-BD59-A6C34878D82A}">
                    <a16:rowId xmlns:a16="http://schemas.microsoft.com/office/drawing/2014/main" val="10003"/>
                  </a:ext>
                </a:extLst>
              </a:tr>
              <a:tr h="473373">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Phase 4</a:t>
                      </a:r>
                    </a:p>
                  </a:txBody>
                  <a:tcPr marL="52426" marR="52426" marT="26213" marB="26213" anchor="ctr">
                    <a:lnL>
                      <a:noFill/>
                    </a:lnL>
                    <a:lnR>
                      <a:noFill/>
                    </a:lnR>
                    <a:lnT>
                      <a:noFill/>
                    </a:lnT>
                    <a:lnB>
                      <a:noFill/>
                    </a:lnB>
                  </a:tcPr>
                </a:tc>
                <a:tc>
                  <a:txBody>
                    <a:bodyPr/>
                    <a:lstStyle/>
                    <a:p>
                      <a:r>
                        <a:rPr lang="en-IN" sz="1400" b="1" dirty="0"/>
                        <a:t>Weather risk analysis and advisory generation model development</a:t>
                      </a:r>
                      <a:endParaRPr lang="en-IN" sz="1400" b="1" dirty="0">
                        <a:latin typeface="Calibri" panose="020F0502020204030204" pitchFamily="34" charset="0"/>
                        <a:ea typeface="Calibri" panose="020F0502020204030204" pitchFamily="34" charset="0"/>
                        <a:cs typeface="Calibri" panose="020F0502020204030204" pitchFamily="34" charset="0"/>
                      </a:endParaRPr>
                    </a:p>
                  </a:txBody>
                  <a:tcPr marL="52426" marR="52426" marT="26213" marB="26213" anchor="ctr">
                    <a:lnL>
                      <a:noFill/>
                    </a:lnL>
                    <a:lnR>
                      <a:noFill/>
                    </a:lnR>
                    <a:lnT>
                      <a:noFill/>
                    </a:lnT>
                    <a:lnB>
                      <a:noFill/>
                    </a:lnB>
                  </a:tcPr>
                </a:tc>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Week 6–7</a:t>
                      </a:r>
                    </a:p>
                  </a:txBody>
                  <a:tcPr marL="52426" marR="52426" marT="26213" marB="26213" anchor="ctr">
                    <a:lnL>
                      <a:noFill/>
                    </a:lnL>
                    <a:lnR>
                      <a:noFill/>
                    </a:lnR>
                    <a:lnT>
                      <a:noFill/>
                    </a:lnT>
                    <a:lnB>
                      <a:noFill/>
                    </a:lnB>
                  </a:tcPr>
                </a:tc>
                <a:extLst>
                  <a:ext uri="{0D108BD9-81ED-4DB2-BD59-A6C34878D82A}">
                    <a16:rowId xmlns:a16="http://schemas.microsoft.com/office/drawing/2014/main" val="10004"/>
                  </a:ext>
                </a:extLst>
              </a:tr>
              <a:tr h="676248">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Phase 5</a:t>
                      </a:r>
                    </a:p>
                  </a:txBody>
                  <a:tcPr marL="52426" marR="52426" marT="26213" marB="26213" anchor="ctr">
                    <a:lnL>
                      <a:noFill/>
                    </a:lnL>
                    <a:lnR>
                      <a:noFill/>
                    </a:lnR>
                    <a:lnT>
                      <a:noFill/>
                    </a:lnT>
                    <a:lnB>
                      <a:noFill/>
                    </a:lnB>
                  </a:tcPr>
                </a:tc>
                <a:tc>
                  <a:txBody>
                    <a:bodyPr/>
                    <a:lstStyle/>
                    <a:p>
                      <a:r>
                        <a:rPr lang="en-IN" sz="1400" b="1" dirty="0"/>
                        <a:t>AI advisory mechanism and adaptive agent development</a:t>
                      </a:r>
                      <a:endParaRPr lang="en-US" sz="1400" b="1" dirty="0">
                        <a:latin typeface="Calibri" panose="020F0502020204030204" pitchFamily="34" charset="0"/>
                        <a:ea typeface="Calibri" panose="020F0502020204030204" pitchFamily="34" charset="0"/>
                        <a:cs typeface="Calibri" panose="020F0502020204030204" pitchFamily="34" charset="0"/>
                      </a:endParaRPr>
                    </a:p>
                  </a:txBody>
                  <a:tcPr marL="52426" marR="52426" marT="26213" marB="26213" anchor="ctr">
                    <a:lnL>
                      <a:noFill/>
                    </a:lnL>
                    <a:lnR>
                      <a:noFill/>
                    </a:lnR>
                    <a:lnT>
                      <a:noFill/>
                    </a:lnT>
                    <a:lnB>
                      <a:noFill/>
                    </a:lnB>
                  </a:tcPr>
                </a:tc>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Week 8–9</a:t>
                      </a:r>
                    </a:p>
                  </a:txBody>
                  <a:tcPr marL="52426" marR="52426" marT="26213" marB="26213" anchor="ctr">
                    <a:lnL>
                      <a:noFill/>
                    </a:lnL>
                    <a:lnR>
                      <a:noFill/>
                    </a:lnR>
                    <a:lnT>
                      <a:noFill/>
                    </a:lnT>
                    <a:lnB>
                      <a:noFill/>
                    </a:lnB>
                  </a:tcPr>
                </a:tc>
                <a:extLst>
                  <a:ext uri="{0D108BD9-81ED-4DB2-BD59-A6C34878D82A}">
                    <a16:rowId xmlns:a16="http://schemas.microsoft.com/office/drawing/2014/main" val="10005"/>
                  </a:ext>
                </a:extLst>
              </a:tr>
              <a:tr h="473373">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Phase 6</a:t>
                      </a:r>
                    </a:p>
                  </a:txBody>
                  <a:tcPr marL="52426" marR="52426" marT="26213" marB="26213" anchor="ctr">
                    <a:lnL>
                      <a:noFill/>
                    </a:lnL>
                    <a:lnR>
                      <a:noFill/>
                    </a:lnR>
                    <a:lnT>
                      <a:noFill/>
                    </a:lnT>
                    <a:lnB>
                      <a:noFill/>
                    </a:lnB>
                  </a:tcPr>
                </a:tc>
                <a:tc>
                  <a:txBody>
                    <a:bodyPr/>
                    <a:lstStyle/>
                    <a:p>
                      <a:r>
                        <a:rPr lang="en-IN" sz="1400" b="1" dirty="0"/>
                        <a:t>Real-time weather risk monitoring and advisory optimization</a:t>
                      </a:r>
                      <a:endParaRPr lang="en-IN" sz="1400" b="1" dirty="0">
                        <a:latin typeface="Calibri" panose="020F0502020204030204" pitchFamily="34" charset="0"/>
                        <a:ea typeface="Calibri" panose="020F0502020204030204" pitchFamily="34" charset="0"/>
                        <a:cs typeface="Calibri" panose="020F0502020204030204" pitchFamily="34" charset="0"/>
                      </a:endParaRPr>
                    </a:p>
                  </a:txBody>
                  <a:tcPr marL="52426" marR="52426" marT="26213" marB="26213" anchor="ctr">
                    <a:lnL>
                      <a:noFill/>
                    </a:lnL>
                    <a:lnR>
                      <a:noFill/>
                    </a:lnR>
                    <a:lnT>
                      <a:noFill/>
                    </a:lnT>
                    <a:lnB>
                      <a:noFill/>
                    </a:lnB>
                  </a:tcPr>
                </a:tc>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Week 10</a:t>
                      </a:r>
                    </a:p>
                  </a:txBody>
                  <a:tcPr marL="52426" marR="52426" marT="26213" marB="26213" anchor="ctr">
                    <a:lnL>
                      <a:noFill/>
                    </a:lnL>
                    <a:lnR>
                      <a:noFill/>
                    </a:lnR>
                    <a:lnT>
                      <a:noFill/>
                    </a:lnT>
                    <a:lnB>
                      <a:noFill/>
                    </a:lnB>
                  </a:tcPr>
                </a:tc>
                <a:extLst>
                  <a:ext uri="{0D108BD9-81ED-4DB2-BD59-A6C34878D82A}">
                    <a16:rowId xmlns:a16="http://schemas.microsoft.com/office/drawing/2014/main" val="10006"/>
                  </a:ext>
                </a:extLst>
              </a:tr>
              <a:tr h="473373">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Phase 7</a:t>
                      </a:r>
                    </a:p>
                  </a:txBody>
                  <a:tcPr marL="52426" marR="52426" marT="26213" marB="26213" anchor="ctr">
                    <a:lnL>
                      <a:noFill/>
                    </a:lnL>
                    <a:lnR>
                      <a:noFill/>
                    </a:lnR>
                    <a:lnT>
                      <a:noFill/>
                    </a:lnT>
                    <a:lnB>
                      <a:noFill/>
                    </a:lnB>
                  </a:tcPr>
                </a:tc>
                <a:tc>
                  <a:txBody>
                    <a:bodyPr/>
                    <a:lstStyle/>
                    <a:p>
                      <a:r>
                        <a:rPr lang="en-IN" sz="1400" b="1" dirty="0"/>
                        <a:t>SOA service integration and REST API development</a:t>
                      </a:r>
                      <a:endParaRPr lang="en-US" sz="1400" b="1" dirty="0">
                        <a:latin typeface="Calibri" panose="020F0502020204030204" pitchFamily="34" charset="0"/>
                        <a:ea typeface="Calibri" panose="020F0502020204030204" pitchFamily="34" charset="0"/>
                        <a:cs typeface="Calibri" panose="020F0502020204030204" pitchFamily="34" charset="0"/>
                      </a:endParaRPr>
                    </a:p>
                  </a:txBody>
                  <a:tcPr marL="52426" marR="52426" marT="26213" marB="26213" anchor="ctr">
                    <a:lnL>
                      <a:noFill/>
                    </a:lnL>
                    <a:lnR>
                      <a:noFill/>
                    </a:lnR>
                    <a:lnT>
                      <a:noFill/>
                    </a:lnT>
                    <a:lnB>
                      <a:noFill/>
                    </a:lnB>
                  </a:tcPr>
                </a:tc>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Week 11</a:t>
                      </a:r>
                    </a:p>
                  </a:txBody>
                  <a:tcPr marL="52426" marR="52426" marT="26213" marB="26213" anchor="ctr">
                    <a:lnL>
                      <a:noFill/>
                    </a:lnL>
                    <a:lnR>
                      <a:noFill/>
                    </a:lnR>
                    <a:lnT>
                      <a:noFill/>
                    </a:lnT>
                    <a:lnB>
                      <a:noFill/>
                    </a:lnB>
                  </a:tcPr>
                </a:tc>
                <a:extLst>
                  <a:ext uri="{0D108BD9-81ED-4DB2-BD59-A6C34878D82A}">
                    <a16:rowId xmlns:a16="http://schemas.microsoft.com/office/drawing/2014/main" val="10007"/>
                  </a:ext>
                </a:extLst>
              </a:tr>
              <a:tr h="676248">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Phase 8</a:t>
                      </a:r>
                    </a:p>
                  </a:txBody>
                  <a:tcPr marL="52426" marR="52426" marT="26213" marB="26213" anchor="ctr">
                    <a:lnL>
                      <a:noFill/>
                    </a:lnL>
                    <a:lnR>
                      <a:noFill/>
                    </a:lnR>
                    <a:lnT>
                      <a:noFill/>
                    </a:lnT>
                    <a:lnB>
                      <a:noFill/>
                    </a:lnB>
                  </a:tcPr>
                </a:tc>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Dashboard and visualization development</a:t>
                      </a:r>
                    </a:p>
                  </a:txBody>
                  <a:tcPr marL="52426" marR="52426" marT="26213" marB="26213" anchor="ctr">
                    <a:lnL>
                      <a:noFill/>
                    </a:lnL>
                    <a:lnR>
                      <a:noFill/>
                    </a:lnR>
                    <a:lnT>
                      <a:noFill/>
                    </a:lnT>
                    <a:lnB>
                      <a:noFill/>
                    </a:lnB>
                  </a:tcPr>
                </a:tc>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Week 12</a:t>
                      </a:r>
                    </a:p>
                  </a:txBody>
                  <a:tcPr marL="52426" marR="52426" marT="26213" marB="26213" anchor="ctr">
                    <a:lnL>
                      <a:noFill/>
                    </a:lnL>
                    <a:lnR>
                      <a:noFill/>
                    </a:lnR>
                    <a:lnT>
                      <a:noFill/>
                    </a:lnT>
                    <a:lnB>
                      <a:noFill/>
                    </a:lnB>
                  </a:tcPr>
                </a:tc>
                <a:extLst>
                  <a:ext uri="{0D108BD9-81ED-4DB2-BD59-A6C34878D82A}">
                    <a16:rowId xmlns:a16="http://schemas.microsoft.com/office/drawing/2014/main" val="10008"/>
                  </a:ext>
                </a:extLst>
              </a:tr>
              <a:tr h="473373">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Phase 9</a:t>
                      </a:r>
                    </a:p>
                  </a:txBody>
                  <a:tcPr marL="52426" marR="52426" marT="26213" marB="26213" anchor="ctr">
                    <a:lnL>
                      <a:noFill/>
                    </a:lnL>
                    <a:lnR>
                      <a:noFill/>
                    </a:lnR>
                    <a:lnT>
                      <a:noFill/>
                    </a:lnT>
                    <a:lnB>
                      <a:noFill/>
                    </a:lnB>
                  </a:tcPr>
                </a:tc>
                <a:tc>
                  <a:txBody>
                    <a:bodyPr/>
                    <a:lstStyle/>
                    <a:p>
                      <a:r>
                        <a:rPr lang="en-US" sz="1400" b="1" dirty="0">
                          <a:latin typeface="Calibri" panose="020F0502020204030204" pitchFamily="34" charset="0"/>
                          <a:ea typeface="Calibri" panose="020F0502020204030204" pitchFamily="34" charset="0"/>
                          <a:cs typeface="Calibri" panose="020F0502020204030204" pitchFamily="34" charset="0"/>
                        </a:rPr>
                        <a:t>Testing, comparison and performance evaluation</a:t>
                      </a:r>
                    </a:p>
                  </a:txBody>
                  <a:tcPr marL="52426" marR="52426" marT="26213" marB="26213" anchor="ctr">
                    <a:lnL>
                      <a:noFill/>
                    </a:lnL>
                    <a:lnR>
                      <a:noFill/>
                    </a:lnR>
                    <a:lnT>
                      <a:noFill/>
                    </a:lnT>
                    <a:lnB>
                      <a:noFill/>
                    </a:lnB>
                  </a:tcPr>
                </a:tc>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Week 13–14</a:t>
                      </a:r>
                    </a:p>
                  </a:txBody>
                  <a:tcPr marL="52426" marR="52426" marT="26213" marB="26213" anchor="ctr">
                    <a:lnL>
                      <a:noFill/>
                    </a:lnL>
                    <a:lnR>
                      <a:noFill/>
                    </a:lnR>
                    <a:lnT>
                      <a:noFill/>
                    </a:lnT>
                    <a:lnB>
                      <a:noFill/>
                    </a:lnB>
                  </a:tcPr>
                </a:tc>
                <a:extLst>
                  <a:ext uri="{0D108BD9-81ED-4DB2-BD59-A6C34878D82A}">
                    <a16:rowId xmlns:a16="http://schemas.microsoft.com/office/drawing/2014/main" val="10009"/>
                  </a:ext>
                </a:extLst>
              </a:tr>
              <a:tr h="473373">
                <a:tc>
                  <a:txBody>
                    <a:bodyPr/>
                    <a:lstStyle/>
                    <a:p>
                      <a:r>
                        <a:rPr lang="en-IN" sz="1400" b="1">
                          <a:latin typeface="Calibri" panose="020F0502020204030204" pitchFamily="34" charset="0"/>
                          <a:ea typeface="Calibri" panose="020F0502020204030204" pitchFamily="34" charset="0"/>
                          <a:cs typeface="Calibri" panose="020F0502020204030204" pitchFamily="34" charset="0"/>
                        </a:rPr>
                        <a:t>Phase 10</a:t>
                      </a:r>
                    </a:p>
                  </a:txBody>
                  <a:tcPr marL="52426" marR="52426" marT="26213" marB="26213" anchor="ctr">
                    <a:lnL>
                      <a:noFill/>
                    </a:lnL>
                    <a:lnR>
                      <a:noFill/>
                    </a:lnR>
                    <a:lnT>
                      <a:noFill/>
                    </a:lnT>
                    <a:lnB>
                      <a:noFill/>
                    </a:lnB>
                  </a:tcPr>
                </a:tc>
                <a:tc>
                  <a:txBody>
                    <a:bodyPr/>
                    <a:lstStyle/>
                    <a:p>
                      <a:r>
                        <a:rPr lang="en-US" sz="1400" b="1" dirty="0">
                          <a:latin typeface="Calibri" panose="020F0502020204030204" pitchFamily="34" charset="0"/>
                          <a:ea typeface="Calibri" panose="020F0502020204030204" pitchFamily="34" charset="0"/>
                          <a:cs typeface="Calibri" panose="020F0502020204030204" pitchFamily="34" charset="0"/>
                        </a:rPr>
                        <a:t>Documentation, results and final presentation</a:t>
                      </a:r>
                    </a:p>
                  </a:txBody>
                  <a:tcPr marL="52426" marR="52426" marT="26213" marB="26213" anchor="ctr">
                    <a:lnL>
                      <a:noFill/>
                    </a:lnL>
                    <a:lnR>
                      <a:noFill/>
                    </a:lnR>
                    <a:lnT>
                      <a:noFill/>
                    </a:lnT>
                    <a:lnB>
                      <a:noFill/>
                    </a:lnB>
                  </a:tcPr>
                </a:tc>
                <a:tc>
                  <a:txBody>
                    <a:bodyPr/>
                    <a:lstStyle/>
                    <a:p>
                      <a:r>
                        <a:rPr lang="en-IN" sz="1400" b="1" dirty="0">
                          <a:latin typeface="Calibri" panose="020F0502020204030204" pitchFamily="34" charset="0"/>
                          <a:ea typeface="Calibri" panose="020F0502020204030204" pitchFamily="34" charset="0"/>
                          <a:cs typeface="Calibri" panose="020F0502020204030204" pitchFamily="34" charset="0"/>
                        </a:rPr>
                        <a:t>Week 15</a:t>
                      </a:r>
                    </a:p>
                  </a:txBody>
                  <a:tcPr marL="52426" marR="52426" marT="26213" marB="26213" anchor="ctr">
                    <a:lnL>
                      <a:noFill/>
                    </a:lnL>
                    <a:lnR>
                      <a:noFill/>
                    </a:lnR>
                    <a:lnT>
                      <a:noFill/>
                    </a:lnT>
                    <a:lnB>
                      <a:noFill/>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991667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fld id="{022A9A8C-9B92-4D48-A6C8-6870D9F00B9F}" type="datetime3">
              <a:rPr lang="en-US" smtClean="0"/>
              <a:t>26 October 2026</a:t>
            </a:fld>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Ph.D. Viva Voce</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7</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pic>
        <p:nvPicPr>
          <p:cNvPr id="13" name="Picture 12">
            <a:extLst>
              <a:ext uri="{FF2B5EF4-FFF2-40B4-BE49-F238E27FC236}">
                <a16:creationId xmlns:a16="http://schemas.microsoft.com/office/drawing/2014/main" id="{21624728-8CEA-04BD-1D08-5C9FAF49BF8E}"/>
              </a:ext>
            </a:extLst>
          </p:cNvPr>
          <p:cNvPicPr>
            <a:picLocks noChangeAspect="1"/>
          </p:cNvPicPr>
          <p:nvPr/>
        </p:nvPicPr>
        <p:blipFill>
          <a:blip r:embed="rId4"/>
          <a:stretch>
            <a:fillRect/>
          </a:stretch>
        </p:blipFill>
        <p:spPr>
          <a:xfrm>
            <a:off x="0" y="3871"/>
            <a:ext cx="12192000" cy="6850257"/>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532434" y="281947"/>
            <a:ext cx="6096000" cy="646331"/>
          </a:xfrm>
          <a:prstGeom prst="rect">
            <a:avLst/>
          </a:prstGeom>
          <a:noFill/>
        </p:spPr>
        <p:txBody>
          <a:bodyPr wrap="square">
            <a:spAutoFit/>
          </a:bodyPr>
          <a:lstStyle/>
          <a:p>
            <a:pPr algn="ctr"/>
            <a:r>
              <a:rPr lang="en-US" sz="3600" b="1" dirty="0"/>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14" name="Rectangle 11"/>
          <p:cNvSpPr>
            <a:spLocks noChangeArrowheads="1"/>
          </p:cNvSpPr>
          <p:nvPr/>
        </p:nvSpPr>
        <p:spPr bwMode="auto">
          <a:xfrm>
            <a:off x="407568" y="1633689"/>
            <a:ext cx="1355063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IN" b="1" dirty="0"/>
              <a:t>Gap 1 — Prediction vs Advisory</a:t>
            </a:r>
          </a:p>
          <a:p>
            <a:pPr marL="285750" indent="-285750">
              <a:buFont typeface="Arial" panose="020B0604020202020204" pitchFamily="34" charset="0"/>
              <a:buChar char="•"/>
            </a:pPr>
            <a:r>
              <a:rPr lang="en-IN" dirty="0"/>
              <a:t>Existing systems mainly focus on </a:t>
            </a:r>
            <a:r>
              <a:rPr lang="en-IN" b="1" dirty="0"/>
              <a:t>predicting weather</a:t>
            </a:r>
            <a:r>
              <a:rPr lang="en-IN" dirty="0"/>
              <a:t>, rather than telling users </a:t>
            </a:r>
            <a:r>
              <a:rPr lang="en-IN" b="1" dirty="0"/>
              <a:t>what they should do</a:t>
            </a:r>
            <a:r>
              <a:rPr lang="en-IN" dirty="0"/>
              <a:t>.</a:t>
            </a:r>
          </a:p>
          <a:p>
            <a:pPr marL="285750" indent="-285750">
              <a:buFont typeface="Arial" panose="020B0604020202020204" pitchFamily="34" charset="0"/>
              <a:buChar char="•"/>
            </a:pPr>
            <a:r>
              <a:rPr lang="en-IN" b="1" dirty="0"/>
              <a:t>Gap 2 — Personalization</a:t>
            </a:r>
          </a:p>
          <a:p>
            <a:pPr marL="285750" indent="-285750">
              <a:buFont typeface="Arial" panose="020B0604020202020204" pitchFamily="34" charset="0"/>
              <a:buChar char="•"/>
            </a:pPr>
            <a:r>
              <a:rPr lang="en-IN" dirty="0"/>
              <a:t>There is limited focus on providing </a:t>
            </a:r>
            <a:r>
              <a:rPr lang="en-IN" b="1" dirty="0"/>
              <a:t>personalized recommendations</a:t>
            </a:r>
            <a:r>
              <a:rPr lang="en-IN" dirty="0"/>
              <a:t> based on user location and weather conditions.</a:t>
            </a:r>
          </a:p>
          <a:p>
            <a:pPr marL="285750" indent="-285750">
              <a:buFont typeface="Arial" panose="020B0604020202020204" pitchFamily="34" charset="0"/>
              <a:buChar char="•"/>
            </a:pPr>
            <a:r>
              <a:rPr lang="en-IN" b="1" dirty="0"/>
              <a:t>Gap 3 — Agentic AI</a:t>
            </a:r>
          </a:p>
          <a:p>
            <a:pPr marL="285750" indent="-285750">
              <a:buFont typeface="Arial" panose="020B0604020202020204" pitchFamily="34" charset="0"/>
              <a:buChar char="•"/>
            </a:pPr>
            <a:r>
              <a:rPr lang="en-IN" dirty="0"/>
              <a:t>There is limited use of </a:t>
            </a:r>
            <a:r>
              <a:rPr lang="en-IN" b="1" dirty="0"/>
              <a:t>agentic AI for automatic risk analysis and decision-making</a:t>
            </a:r>
            <a:r>
              <a:rPr lang="en-IN" dirty="0"/>
              <a:t>.</a:t>
            </a:r>
          </a:p>
          <a:p>
            <a:pPr marL="285750" indent="-285750">
              <a:buFont typeface="Arial" panose="020B0604020202020204" pitchFamily="34" charset="0"/>
              <a:buChar char="•"/>
            </a:pPr>
            <a:r>
              <a:rPr lang="en-IN" b="1" dirty="0"/>
              <a:t>Gap 4 — Integration</a:t>
            </a:r>
          </a:p>
          <a:p>
            <a:pPr marL="285750" indent="-285750">
              <a:buFont typeface="Arial" panose="020B0604020202020204" pitchFamily="34" charset="0"/>
              <a:buChar char="•"/>
            </a:pPr>
            <a:r>
              <a:rPr lang="en-IN" dirty="0"/>
              <a:t>Weather prediction, alerts, and user communication are often handled as </a:t>
            </a:r>
            <a:r>
              <a:rPr lang="en-IN" b="1" dirty="0"/>
              <a:t>separate functions</a:t>
            </a:r>
            <a:r>
              <a:rPr lang="en-IN" dirty="0"/>
              <a:t>.</a:t>
            </a:r>
          </a:p>
          <a:p>
            <a:pPr marL="285750" indent="-285750">
              <a:buFont typeface="Arial" panose="020B0604020202020204" pitchFamily="34" charset="0"/>
              <a:buChar char="•"/>
            </a:pPr>
            <a:r>
              <a:rPr lang="en-IN" b="1" dirty="0"/>
              <a:t>Gap 5 — Actionable Information</a:t>
            </a:r>
          </a:p>
          <a:p>
            <a:pPr marL="285750" indent="-285750">
              <a:buFont typeface="Arial" panose="020B0604020202020204" pitchFamily="34" charset="0"/>
              <a:buChar char="•"/>
            </a:pPr>
            <a:r>
              <a:rPr lang="en-IN" dirty="0"/>
              <a:t>There is a need for an integrated system that provides:</a:t>
            </a:r>
          </a:p>
          <a:p>
            <a:pPr marL="285750" indent="-285750">
              <a:buFont typeface="Arial" panose="020B0604020202020204" pitchFamily="34" charset="0"/>
              <a:buChar char="•"/>
            </a:pPr>
            <a:r>
              <a:rPr lang="en-IN" b="1" dirty="0"/>
              <a:t>Real-time + Explainable + Actionable Weather Advisories</a:t>
            </a:r>
            <a:endParaRPr lang="en-IN" dirty="0"/>
          </a:p>
          <a:p>
            <a:pPr marL="285750" indent="-285750">
              <a:buFont typeface="Arial" panose="020B0604020202020204" pitchFamily="34" charset="0"/>
              <a:buChar char="•"/>
            </a:pPr>
            <a:endParaRPr lang="en-IN"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65876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Rectangle 1"/>
          <p:cNvSpPr/>
          <p:nvPr/>
        </p:nvSpPr>
        <p:spPr>
          <a:xfrm>
            <a:off x="1129665" y="1552901"/>
            <a:ext cx="9753599" cy="3170099"/>
          </a:xfrm>
          <a:prstGeom prst="rect">
            <a:avLst/>
          </a:prstGeom>
        </p:spPr>
        <p:txBody>
          <a:bodyPr wrap="square">
            <a:spAutoFit/>
          </a:bodyPr>
          <a:lstStyle/>
          <a:p>
            <a:pPr marL="342900" lvl="0" indent="-342900">
              <a:buFont typeface="Arial" panose="020B0604020202020204" pitchFamily="34" charset="0"/>
              <a:buChar char="•"/>
            </a:pPr>
            <a:r>
              <a:rPr lang="en-IN" sz="2000" dirty="0"/>
              <a:t>To develop an intelligent irrigation management system using Service-Oriented Architecture (SOA).</a:t>
            </a:r>
          </a:p>
          <a:p>
            <a:pPr marL="342900" lvl="0" indent="-342900">
              <a:buFont typeface="Arial" panose="020B0604020202020204" pitchFamily="34" charset="0"/>
              <a:buChar char="•"/>
            </a:pPr>
            <a:r>
              <a:rPr lang="en-IN" sz="2000" dirty="0"/>
              <a:t>To collect and process soil, weather, and crop-related data for irrigation planning.</a:t>
            </a:r>
          </a:p>
          <a:p>
            <a:pPr marL="342900" lvl="0" indent="-342900">
              <a:buFont typeface="Arial" panose="020B0604020202020204" pitchFamily="34" charset="0"/>
              <a:buChar char="•"/>
            </a:pPr>
            <a:r>
              <a:rPr lang="en-IN" sz="2000" dirty="0"/>
              <a:t>To develop an ML-based model to predict irrigation requirements.</a:t>
            </a:r>
          </a:p>
          <a:p>
            <a:pPr marL="342900" lvl="0" indent="-342900">
              <a:buFont typeface="Arial" panose="020B0604020202020204" pitchFamily="34" charset="0"/>
              <a:buChar char="•"/>
            </a:pPr>
            <a:r>
              <a:rPr lang="en-IN" sz="2000" dirty="0"/>
              <a:t>To implement AI agents for soil, weather, crop, and carbon analysis.</a:t>
            </a:r>
          </a:p>
          <a:p>
            <a:pPr marL="342900" lvl="0" indent="-342900">
              <a:buFont typeface="Arial" panose="020B0604020202020204" pitchFamily="34" charset="0"/>
              <a:buChar char="•"/>
            </a:pPr>
            <a:r>
              <a:rPr lang="en-IN" sz="2000" dirty="0"/>
              <a:t>To optimize irrigation schedules by considering water requirements and carbon emissions.</a:t>
            </a:r>
          </a:p>
          <a:p>
            <a:pPr marL="342900" lvl="0" indent="-342900">
              <a:buFont typeface="Arial" panose="020B0604020202020204" pitchFamily="34" charset="0"/>
              <a:buChar char="•"/>
            </a:pPr>
            <a:r>
              <a:rPr lang="en-IN" sz="2000" dirty="0"/>
              <a:t>To integrate independent services using RESTful APIs for efficient communication.</a:t>
            </a:r>
          </a:p>
          <a:p>
            <a:pPr marL="342900" lvl="0" indent="-342900">
              <a:buFont typeface="Arial" panose="020B0604020202020204" pitchFamily="34" charset="0"/>
              <a:buChar char="•"/>
            </a:pPr>
            <a:r>
              <a:rPr lang="en-IN" sz="2000" dirty="0"/>
              <a:t>To develop a user-friendly dashboard for monitoring irrigation recommendations and system performance.</a:t>
            </a:r>
          </a:p>
        </p:txBody>
      </p:sp>
    </p:spTree>
    <p:extLst>
      <p:ext uri="{BB962C8B-B14F-4D97-AF65-F5344CB8AC3E}">
        <p14:creationId xmlns:p14="http://schemas.microsoft.com/office/powerpoint/2010/main" val="3917782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7893" y="0"/>
            <a:ext cx="10515600" cy="1325563"/>
          </a:xfrm>
        </p:spPr>
        <p:txBody>
          <a:bodyPr/>
          <a:lstStyle/>
          <a:p>
            <a:r>
              <a:rPr lang="en-US" dirty="0"/>
              <a:t>Significance/Outcomes</a:t>
            </a:r>
            <a:endParaRPr lang="en-IN" dirty="0"/>
          </a:p>
        </p:txBody>
      </p:sp>
      <p:sp>
        <p:nvSpPr>
          <p:cNvPr id="3" name="Rectangle 2"/>
          <p:cNvSpPr/>
          <p:nvPr/>
        </p:nvSpPr>
        <p:spPr>
          <a:xfrm>
            <a:off x="0" y="979714"/>
            <a:ext cx="12073812" cy="6370975"/>
          </a:xfrm>
          <a:prstGeom prst="rect">
            <a:avLst/>
          </a:prstGeom>
        </p:spPr>
        <p:txBody>
          <a:bodyPr wrap="square">
            <a:spAutoFit/>
          </a:bodyPr>
          <a:lstStyle/>
          <a:p>
            <a:r>
              <a:rPr lang="en-IN" sz="2400" dirty="0"/>
              <a:t>1. Improved Weather Awareness: </a:t>
            </a:r>
            <a:r>
              <a:rPr lang="en-IN" sz="2400" dirty="0" err="1"/>
              <a:t>WeatherGuardian</a:t>
            </a:r>
            <a:r>
              <a:rPr lang="en-IN" sz="2400" dirty="0"/>
              <a:t> AI provides real-time weather information and meaningful recommendations to help users understand changing weather conditions.</a:t>
            </a:r>
          </a:p>
          <a:p>
            <a:r>
              <a:rPr lang="en-IN" sz="2400" dirty="0"/>
              <a:t>- The system converts raw weather data into useful and actionable information.</a:t>
            </a:r>
          </a:p>
          <a:p>
            <a:r>
              <a:rPr lang="en-IN" sz="2400" dirty="0"/>
              <a:t>2. Early Weather Risk Detection: The system identifies potential weather hazards such as heavy rainfall, thunderstorms, extreme heat, and strong winds.</a:t>
            </a:r>
          </a:p>
          <a:p>
            <a:r>
              <a:rPr lang="en-IN" sz="2400" dirty="0"/>
              <a:t>- It helps users recognize potential risks and take preventive measures.</a:t>
            </a:r>
          </a:p>
          <a:p>
            <a:r>
              <a:rPr lang="en-IN" sz="2400" dirty="0"/>
              <a:t>3. Intelligent Weather Advisories: The AI Advisory Service generates suitable recommendations based on </a:t>
            </a:r>
            <a:r>
              <a:rPr lang="en-IN" sz="2400" dirty="0" err="1"/>
              <a:t>analyzed</a:t>
            </a:r>
            <a:r>
              <a:rPr lang="en-IN" sz="2400" dirty="0"/>
              <a:t> weather conditions.</a:t>
            </a:r>
          </a:p>
          <a:p>
            <a:r>
              <a:rPr lang="en-IN" sz="2400" dirty="0"/>
              <a:t>4. Timely Alerts and Notifications: The Notification Service delivers alerts when critical weather conditions are detected.</a:t>
            </a:r>
          </a:p>
          <a:p>
            <a:r>
              <a:rPr lang="en-IN" sz="2400" dirty="0"/>
              <a:t>- It helps users stay informed about potentially hazardous weather conditions.</a:t>
            </a:r>
          </a:p>
          <a:p>
            <a:r>
              <a:rPr lang="en-IN" sz="2400" dirty="0"/>
              <a:t>5. Adaptive Weather Monitoring: The system responds to changing weather conditions and updates recommendations accordingly.</a:t>
            </a:r>
          </a:p>
          <a:p>
            <a:r>
              <a:rPr lang="en-IN" sz="2400" dirty="0"/>
              <a:t>- It supports timely and adaptive weather advisory management.</a:t>
            </a:r>
          </a:p>
          <a:p>
            <a:endParaRPr lang="en-IN" sz="2400" dirty="0"/>
          </a:p>
          <a:p>
            <a:endParaRPr lang="en-IN" sz="2400" dirty="0"/>
          </a:p>
        </p:txBody>
      </p:sp>
      <p:pic>
        <p:nvPicPr>
          <p:cNvPr id="4" name="Picture 3"/>
          <p:cNvPicPr>
            <a:picLocks noChangeAspect="1"/>
          </p:cNvPicPr>
          <p:nvPr/>
        </p:nvPicPr>
        <p:blipFill>
          <a:blip r:embed="rId2"/>
          <a:stretch>
            <a:fillRect/>
          </a:stretch>
        </p:blipFill>
        <p:spPr>
          <a:xfrm>
            <a:off x="10247207" y="0"/>
            <a:ext cx="1944793" cy="621846"/>
          </a:xfrm>
          <a:prstGeom prst="rect">
            <a:avLst/>
          </a:prstGeom>
        </p:spPr>
      </p:pic>
    </p:spTree>
    <p:extLst>
      <p:ext uri="{BB962C8B-B14F-4D97-AF65-F5344CB8AC3E}">
        <p14:creationId xmlns:p14="http://schemas.microsoft.com/office/powerpoint/2010/main" val="1400536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0038" y="0"/>
            <a:ext cx="10515600" cy="1325563"/>
          </a:xfrm>
        </p:spPr>
        <p:txBody>
          <a:bodyPr>
            <a:normAutofit/>
          </a:bodyPr>
          <a:lstStyle/>
          <a:p>
            <a:r>
              <a:rPr lang="en-US" sz="3200" dirty="0"/>
              <a:t>IMPLEMENTATION</a:t>
            </a:r>
            <a:endParaRPr lang="en-IN" sz="3200" dirty="0"/>
          </a:p>
        </p:txBody>
      </p:sp>
      <p:pic>
        <p:nvPicPr>
          <p:cNvPr id="3" name="Picture 2"/>
          <p:cNvPicPr>
            <a:picLocks noChangeAspect="1"/>
          </p:cNvPicPr>
          <p:nvPr/>
        </p:nvPicPr>
        <p:blipFill>
          <a:blip r:embed="rId2"/>
          <a:stretch>
            <a:fillRect/>
          </a:stretch>
        </p:blipFill>
        <p:spPr>
          <a:xfrm>
            <a:off x="10247207" y="0"/>
            <a:ext cx="1944793" cy="621846"/>
          </a:xfrm>
          <a:prstGeom prst="rect">
            <a:avLst/>
          </a:prstGeom>
        </p:spPr>
      </p:pic>
      <p:pic>
        <p:nvPicPr>
          <p:cNvPr id="8" name="Picture 7">
            <a:extLst>
              <a:ext uri="{FF2B5EF4-FFF2-40B4-BE49-F238E27FC236}">
                <a16:creationId xmlns:a16="http://schemas.microsoft.com/office/drawing/2014/main" id="{87F0DB61-8847-A9A9-43B7-1F598E9EF69E}"/>
              </a:ext>
            </a:extLst>
          </p:cNvPr>
          <p:cNvPicPr>
            <a:picLocks noChangeAspect="1"/>
          </p:cNvPicPr>
          <p:nvPr/>
        </p:nvPicPr>
        <p:blipFill>
          <a:blip r:embed="rId3"/>
          <a:stretch>
            <a:fillRect/>
          </a:stretch>
        </p:blipFill>
        <p:spPr>
          <a:xfrm>
            <a:off x="0" y="839754"/>
            <a:ext cx="12192000" cy="6018245"/>
          </a:xfrm>
          <a:prstGeom prst="rect">
            <a:avLst/>
          </a:prstGeom>
        </p:spPr>
      </p:pic>
    </p:spTree>
    <p:extLst>
      <p:ext uri="{BB962C8B-B14F-4D97-AF65-F5344CB8AC3E}">
        <p14:creationId xmlns:p14="http://schemas.microsoft.com/office/powerpoint/2010/main" val="3199227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71985B-A484-97A3-685E-AAF21F500C9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78432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432</TotalTime>
  <Words>957</Words>
  <Application>Microsoft Office PowerPoint</Application>
  <PresentationFormat>Widescreen</PresentationFormat>
  <Paragraphs>140</Paragraphs>
  <Slides>12</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Project Plan</vt:lpstr>
      <vt:lpstr>PowerPoint Presentation</vt:lpstr>
      <vt:lpstr>PowerPoint Presentation</vt:lpstr>
      <vt:lpstr>PowerPoint Presentation</vt:lpstr>
      <vt:lpstr>Significance/Outcomes</vt:lpstr>
      <vt:lpstr>IMPLEMENTATION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 ch</dc:creator>
  <cp:lastModifiedBy>SAI SAHASRA MANUKONDA</cp:lastModifiedBy>
  <cp:revision>46</cp:revision>
  <dcterms:created xsi:type="dcterms:W3CDTF">2026-08-08T06:33:56Z</dcterms:created>
  <dcterms:modified xsi:type="dcterms:W3CDTF">2026-10-26T04:16:20Z</dcterms:modified>
</cp:coreProperties>
</file>