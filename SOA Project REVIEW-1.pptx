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7"/>
  </p:notesMasterIdLst>
  <p:sldIdLst>
    <p:sldId id="262" r:id="rId3"/>
    <p:sldId id="707" r:id="rId4"/>
    <p:sldId id="257" r:id="rId5"/>
    <p:sldId id="903" r:id="rId6"/>
    <p:sldId id="902" r:id="rId7"/>
    <p:sldId id="904" r:id="rId8"/>
    <p:sldId id="259" r:id="rId9"/>
    <p:sldId id="260" r:id="rId10"/>
    <p:sldId id="905" r:id="rId11"/>
    <p:sldId id="906" r:id="rId12"/>
    <p:sldId id="907" r:id="rId13"/>
    <p:sldId id="908" r:id="rId14"/>
    <p:sldId id="909" r:id="rId15"/>
    <p:sldId id="91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7677679-7ECD-48CF-BF6E-B783DA44F908}">
          <p14:sldIdLst>
            <p14:sldId id="262"/>
            <p14:sldId id="707"/>
            <p14:sldId id="257"/>
            <p14:sldId id="903"/>
            <p14:sldId id="902"/>
            <p14:sldId id="904"/>
            <p14:sldId id="259"/>
            <p14:sldId id="260"/>
            <p14:sldId id="905"/>
            <p14:sldId id="906"/>
            <p14:sldId id="907"/>
            <p14:sldId id="908"/>
            <p14:sldId id="909"/>
            <p14:sldId id="91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A15E6F-4323-4C7C-A7EF-37157274A9FC}" v="10" dt="2026-08-26T08:13:52.7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 SAHASRA MANUKONDA" userId="7433561f35d7f931" providerId="LiveId" clId="{3E9A625D-7109-4696-AA22-1497EAEA0DDF}"/>
    <pc:docChg chg="undo custSel addSld modSld modSection">
      <pc:chgData name="SAI SAHASRA MANUKONDA" userId="7433561f35d7f931" providerId="LiveId" clId="{3E9A625D-7109-4696-AA22-1497EAEA0DDF}" dt="2026-08-26T08:13:52.850" v="59" actId="27636"/>
      <pc:docMkLst>
        <pc:docMk/>
      </pc:docMkLst>
      <pc:sldChg chg="modSp mod">
        <pc:chgData name="SAI SAHASRA MANUKONDA" userId="7433561f35d7f931" providerId="LiveId" clId="{3E9A625D-7109-4696-AA22-1497EAEA0DDF}" dt="2026-08-26T08:08:58.278" v="5" actId="20577"/>
        <pc:sldMkLst>
          <pc:docMk/>
          <pc:sldMk cId="2247602601" sldId="262"/>
        </pc:sldMkLst>
        <pc:spChg chg="mod">
          <ac:chgData name="SAI SAHASRA MANUKONDA" userId="7433561f35d7f931" providerId="LiveId" clId="{3E9A625D-7109-4696-AA22-1497EAEA0DDF}" dt="2026-08-26T08:08:58.278" v="5" actId="20577"/>
          <ac:spMkLst>
            <pc:docMk/>
            <pc:sldMk cId="2247602601" sldId="262"/>
            <ac:spMk id="16" creationId="{500C0830-A1CA-96AE-68D2-18C57ABE4802}"/>
          </ac:spMkLst>
        </pc:spChg>
        <pc:spChg chg="mod">
          <ac:chgData name="SAI SAHASRA MANUKONDA" userId="7433561f35d7f931" providerId="LiveId" clId="{3E9A625D-7109-4696-AA22-1497EAEA0DDF}" dt="2026-08-26T08:08:53.248" v="1" actId="20577"/>
          <ac:spMkLst>
            <pc:docMk/>
            <pc:sldMk cId="2247602601" sldId="262"/>
            <ac:spMk id="17" creationId="{D25BC1A0-FDE4-1557-375E-6E0BD69BC77B}"/>
          </ac:spMkLst>
        </pc:spChg>
      </pc:sldChg>
      <pc:sldChg chg="modSp new">
        <pc:chgData name="SAI SAHASRA MANUKONDA" userId="7433561f35d7f931" providerId="LiveId" clId="{3E9A625D-7109-4696-AA22-1497EAEA0DDF}" dt="2026-08-26T08:09:40.951" v="8"/>
        <pc:sldMkLst>
          <pc:docMk/>
          <pc:sldMk cId="3862899670" sldId="906"/>
        </pc:sldMkLst>
        <pc:spChg chg="mod">
          <ac:chgData name="SAI SAHASRA MANUKONDA" userId="7433561f35d7f931" providerId="LiveId" clId="{3E9A625D-7109-4696-AA22-1497EAEA0DDF}" dt="2026-08-26T08:09:31.116" v="7"/>
          <ac:spMkLst>
            <pc:docMk/>
            <pc:sldMk cId="3862899670" sldId="906"/>
            <ac:spMk id="2" creationId="{235EF818-3A2D-2BA8-5C8D-76E8E8EFE0A6}"/>
          </ac:spMkLst>
        </pc:spChg>
        <pc:spChg chg="mod">
          <ac:chgData name="SAI SAHASRA MANUKONDA" userId="7433561f35d7f931" providerId="LiveId" clId="{3E9A625D-7109-4696-AA22-1497EAEA0DDF}" dt="2026-08-26T08:09:40.951" v="8"/>
          <ac:spMkLst>
            <pc:docMk/>
            <pc:sldMk cId="3862899670" sldId="906"/>
            <ac:spMk id="3" creationId="{CAC0B2EE-BCB6-CD4C-3E7E-13EC5960B939}"/>
          </ac:spMkLst>
        </pc:spChg>
      </pc:sldChg>
      <pc:sldChg chg="addSp delSp modSp new mod">
        <pc:chgData name="SAI SAHASRA MANUKONDA" userId="7433561f35d7f931" providerId="LiveId" clId="{3E9A625D-7109-4696-AA22-1497EAEA0DDF}" dt="2026-08-26T08:10:48.795" v="14" actId="27636"/>
        <pc:sldMkLst>
          <pc:docMk/>
          <pc:sldMk cId="1753542325" sldId="907"/>
        </pc:sldMkLst>
        <pc:spChg chg="mod">
          <ac:chgData name="SAI SAHASRA MANUKONDA" userId="7433561f35d7f931" providerId="LiveId" clId="{3E9A625D-7109-4696-AA22-1497EAEA0DDF}" dt="2026-08-26T08:10:17.040" v="12"/>
          <ac:spMkLst>
            <pc:docMk/>
            <pc:sldMk cId="1753542325" sldId="907"/>
            <ac:spMk id="2" creationId="{7CE54AE8-B2FD-9392-60E6-08721F246381}"/>
          </ac:spMkLst>
        </pc:spChg>
        <pc:spChg chg="mod">
          <ac:chgData name="SAI SAHASRA MANUKONDA" userId="7433561f35d7f931" providerId="LiveId" clId="{3E9A625D-7109-4696-AA22-1497EAEA0DDF}" dt="2026-08-26T08:10:48.795" v="14" actId="27636"/>
          <ac:spMkLst>
            <pc:docMk/>
            <pc:sldMk cId="1753542325" sldId="907"/>
            <ac:spMk id="3" creationId="{861E4AD2-EE2F-BF76-A3DF-1665DE7205A1}"/>
          </ac:spMkLst>
        </pc:spChg>
        <pc:spChg chg="add del">
          <ac:chgData name="SAI SAHASRA MANUKONDA" userId="7433561f35d7f931" providerId="LiveId" clId="{3E9A625D-7109-4696-AA22-1497EAEA0DDF}" dt="2026-08-26T08:10:15.522" v="11" actId="22"/>
          <ac:spMkLst>
            <pc:docMk/>
            <pc:sldMk cId="1753542325" sldId="907"/>
            <ac:spMk id="8" creationId="{DDB318A1-E2DA-69A6-1F82-D02054D64E8E}"/>
          </ac:spMkLst>
        </pc:spChg>
      </pc:sldChg>
      <pc:sldChg chg="modSp new mod">
        <pc:chgData name="SAI SAHASRA MANUKONDA" userId="7433561f35d7f931" providerId="LiveId" clId="{3E9A625D-7109-4696-AA22-1497EAEA0DDF}" dt="2026-08-26T08:11:45.153" v="20" actId="5793"/>
        <pc:sldMkLst>
          <pc:docMk/>
          <pc:sldMk cId="1206700378" sldId="908"/>
        </pc:sldMkLst>
        <pc:spChg chg="mod">
          <ac:chgData name="SAI SAHASRA MANUKONDA" userId="7433561f35d7f931" providerId="LiveId" clId="{3E9A625D-7109-4696-AA22-1497EAEA0DDF}" dt="2026-08-26T08:11:04.660" v="16"/>
          <ac:spMkLst>
            <pc:docMk/>
            <pc:sldMk cId="1206700378" sldId="908"/>
            <ac:spMk id="2" creationId="{D4133D03-C041-F025-3F25-5BE009815DA1}"/>
          </ac:spMkLst>
        </pc:spChg>
        <pc:spChg chg="mod">
          <ac:chgData name="SAI SAHASRA MANUKONDA" userId="7433561f35d7f931" providerId="LiveId" clId="{3E9A625D-7109-4696-AA22-1497EAEA0DDF}" dt="2026-08-26T08:11:45.153" v="20" actId="5793"/>
          <ac:spMkLst>
            <pc:docMk/>
            <pc:sldMk cId="1206700378" sldId="908"/>
            <ac:spMk id="3" creationId="{FD2559FE-32E5-6752-19A0-DB82B79C27F6}"/>
          </ac:spMkLst>
        </pc:spChg>
      </pc:sldChg>
      <pc:sldChg chg="addSp delSp modSp new mod">
        <pc:chgData name="SAI SAHASRA MANUKONDA" userId="7433561f35d7f931" providerId="LiveId" clId="{3E9A625D-7109-4696-AA22-1497EAEA0DDF}" dt="2026-08-26T08:12:52.474" v="25" actId="14100"/>
        <pc:sldMkLst>
          <pc:docMk/>
          <pc:sldMk cId="3011162503" sldId="909"/>
        </pc:sldMkLst>
        <pc:spChg chg="mod">
          <ac:chgData name="SAI SAHASRA MANUKONDA" userId="7433561f35d7f931" providerId="LiveId" clId="{3E9A625D-7109-4696-AA22-1497EAEA0DDF}" dt="2026-08-26T08:12:22.531" v="22"/>
          <ac:spMkLst>
            <pc:docMk/>
            <pc:sldMk cId="3011162503" sldId="909"/>
            <ac:spMk id="2" creationId="{F28DBAA6-352F-B07C-545B-1D7B87252026}"/>
          </ac:spMkLst>
        </pc:spChg>
        <pc:spChg chg="del">
          <ac:chgData name="SAI SAHASRA MANUKONDA" userId="7433561f35d7f931" providerId="LiveId" clId="{3E9A625D-7109-4696-AA22-1497EAEA0DDF}" dt="2026-08-26T08:12:45.605" v="23"/>
          <ac:spMkLst>
            <pc:docMk/>
            <pc:sldMk cId="3011162503" sldId="909"/>
            <ac:spMk id="3" creationId="{B8E4A7DD-7B54-2BB3-3540-373AC284E6D2}"/>
          </ac:spMkLst>
        </pc:spChg>
        <pc:graphicFrameChg chg="add mod modGraphic">
          <ac:chgData name="SAI SAHASRA MANUKONDA" userId="7433561f35d7f931" providerId="LiveId" clId="{3E9A625D-7109-4696-AA22-1497EAEA0DDF}" dt="2026-08-26T08:12:52.474" v="25" actId="14100"/>
          <ac:graphicFrameMkLst>
            <pc:docMk/>
            <pc:sldMk cId="3011162503" sldId="909"/>
            <ac:graphicFrameMk id="7" creationId="{FB6D05E6-934D-594B-2994-DCEBE33F6F20}"/>
          </ac:graphicFrameMkLst>
        </pc:graphicFrameChg>
      </pc:sldChg>
      <pc:sldChg chg="addSp delSp modSp new mod">
        <pc:chgData name="SAI SAHASRA MANUKONDA" userId="7433561f35d7f931" providerId="LiveId" clId="{3E9A625D-7109-4696-AA22-1497EAEA0DDF}" dt="2026-08-26T08:13:52.850" v="59" actId="27636"/>
        <pc:sldMkLst>
          <pc:docMk/>
          <pc:sldMk cId="4167370206" sldId="910"/>
        </pc:sldMkLst>
        <pc:spChg chg="mod">
          <ac:chgData name="SAI SAHASRA MANUKONDA" userId="7433561f35d7f931" providerId="LiveId" clId="{3E9A625D-7109-4696-AA22-1497EAEA0DDF}" dt="2026-08-26T08:13:10.818" v="27"/>
          <ac:spMkLst>
            <pc:docMk/>
            <pc:sldMk cId="4167370206" sldId="910"/>
            <ac:spMk id="2" creationId="{794A57AE-71EA-6E58-784A-2D8D32694D8C}"/>
          </ac:spMkLst>
        </pc:spChg>
        <pc:spChg chg="mod">
          <ac:chgData name="SAI SAHASRA MANUKONDA" userId="7433561f35d7f931" providerId="LiveId" clId="{3E9A625D-7109-4696-AA22-1497EAEA0DDF}" dt="2026-08-26T08:13:52.850" v="59" actId="27636"/>
          <ac:spMkLst>
            <pc:docMk/>
            <pc:sldMk cId="4167370206" sldId="910"/>
            <ac:spMk id="3" creationId="{92D06F7B-6518-B69E-CD3A-4753A41BB93F}"/>
          </ac:spMkLst>
        </pc:spChg>
        <pc:spChg chg="add del mod">
          <ac:chgData name="SAI SAHASRA MANUKONDA" userId="7433561f35d7f931" providerId="LiveId" clId="{3E9A625D-7109-4696-AA22-1497EAEA0DDF}" dt="2026-08-26T08:13:49.409" v="57" actId="22"/>
          <ac:spMkLst>
            <pc:docMk/>
            <pc:sldMk cId="4167370206" sldId="910"/>
            <ac:spMk id="8" creationId="{C976D4DE-0F5E-AD94-1900-9C7E36788A1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26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26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26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26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26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26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26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26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26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26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26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8/26/2026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26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Wednesday, August 26</a:t>
            </a:r>
            <a:r>
              <a:rPr lang="en-IN" sz="2000" b="1" baseline="30000" dirty="0">
                <a:solidFill>
                  <a:srgbClr val="FF0000"/>
                </a:solidFill>
                <a:latin typeface="Times New Roman" panose="02020603050405020304" pitchFamily="18" charset="0"/>
                <a:cs typeface="Times New Roman" panose="02020603050405020304" pitchFamily="18" charset="0"/>
              </a:rPr>
              <a:t>th</a:t>
            </a:r>
            <a:r>
              <a:rPr lang="en-IN" sz="2000" b="1" dirty="0">
                <a:solidFill>
                  <a:srgbClr val="FF0000"/>
                </a:solidFill>
                <a:latin typeface="Times New Roman" panose="02020603050405020304" pitchFamily="18" charset="0"/>
                <a:cs typeface="Times New Roman" panose="02020603050405020304" pitchFamily="18" charset="0"/>
              </a:rPr>
              <a:t>, 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190978917"/>
              </p:ext>
            </p:extLst>
          </p:nvPr>
        </p:nvGraphicFramePr>
        <p:xfrm>
          <a:off x="8193271" y="4898509"/>
          <a:ext cx="3702050" cy="115824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800" i="0" kern="1200" dirty="0">
                          <a:solidFill>
                            <a:schemeClr val="tx1"/>
                          </a:solidFill>
                          <a:effectLst/>
                          <a:latin typeface="+mn-lt"/>
                          <a:ea typeface="+mn-ea"/>
                          <a:cs typeface="+mn-cs"/>
                        </a:rPr>
                        <a:t>2420030595-E.Abhilash Reddy</a:t>
                      </a:r>
                    </a:p>
                    <a:p>
                      <a:pPr marL="0" algn="l" defTabSz="914400" rtl="0" eaLnBrk="1" latinLnBrk="0" hangingPunct="1"/>
                      <a:r>
                        <a:rPr lang="en-IN" sz="1800" i="0" kern="1200" dirty="0">
                          <a:solidFill>
                            <a:schemeClr val="tx1"/>
                          </a:solidFill>
                          <a:effectLst/>
                          <a:latin typeface="+mn-lt"/>
                          <a:ea typeface="+mn-ea"/>
                          <a:cs typeface="+mn-cs"/>
                        </a:rPr>
                        <a:t>2420030706-M.Sai Sahasra</a:t>
                      </a:r>
                    </a:p>
                    <a:p>
                      <a:pPr marL="0" algn="l" defTabSz="914400" rtl="0" eaLnBrk="1" latinLnBrk="0" hangingPunct="1"/>
                      <a:r>
                        <a:rPr lang="en-IN" sz="1800" i="0" kern="1200" dirty="0">
                          <a:solidFill>
                            <a:schemeClr val="tx1"/>
                          </a:solidFill>
                          <a:effectLst/>
                          <a:latin typeface="+mn-lt"/>
                          <a:ea typeface="+mn-ea"/>
                          <a:cs typeface="+mn-cs"/>
                        </a:rPr>
                        <a:t>2420030739-CH.Lucky Reddy</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4108838424"/>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Srikanth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Cherukuvada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fld id="{6AC1C3D7-1A78-437F-8E79-FA9F45001D93}" type="datetime3">
              <a:rPr lang="en-US" b="1" smtClean="0"/>
              <a:t>26 August 2026</a:t>
            </a:fld>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RTOS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646331"/>
          </a:xfrm>
          <a:prstGeom prst="rect">
            <a:avLst/>
          </a:prstGeom>
          <a:noFill/>
        </p:spPr>
        <p:txBody>
          <a:bodyPr wrap="square">
            <a:spAutoFit/>
          </a:bodyPr>
          <a:lstStyle/>
          <a:p>
            <a:pPr lvl="0" algn="ctr">
              <a:defRPr/>
            </a:pP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RTOS Project Review-2</a:t>
            </a:r>
          </a:p>
        </p:txBody>
      </p:sp>
      <p:graphicFrame>
        <p:nvGraphicFramePr>
          <p:cNvPr id="5" name="Table 4">
            <a:extLst>
              <a:ext uri="{FF2B5EF4-FFF2-40B4-BE49-F238E27FC236}">
                <a16:creationId xmlns:a16="http://schemas.microsoft.com/office/drawing/2014/main" id="{EDD75655-2236-A029-7B57-D90DF98C3639}"/>
              </a:ext>
            </a:extLst>
          </p:cNvPr>
          <p:cNvGraphicFramePr>
            <a:graphicFrameLocks noGrp="1"/>
          </p:cNvGraphicFramePr>
          <p:nvPr>
            <p:extLst>
              <p:ext uri="{D42A27DB-BD31-4B8C-83A1-F6EECF244321}">
                <p14:modId xmlns:p14="http://schemas.microsoft.com/office/powerpoint/2010/main" val="1011986748"/>
              </p:ext>
            </p:extLst>
          </p:nvPr>
        </p:nvGraphicFramePr>
        <p:xfrm>
          <a:off x="629265" y="757084"/>
          <a:ext cx="10924558" cy="1009333"/>
        </p:xfrm>
        <a:graphic>
          <a:graphicData uri="http://schemas.openxmlformats.org/drawingml/2006/table">
            <a:tbl>
              <a:tblPr/>
              <a:tblGrid>
                <a:gridCol w="10924558">
                  <a:extLst>
                    <a:ext uri="{9D8B030D-6E8A-4147-A177-3AD203B41FA5}">
                      <a16:colId xmlns:a16="http://schemas.microsoft.com/office/drawing/2014/main" val="2217331649"/>
                    </a:ext>
                  </a:extLst>
                </a:gridCol>
              </a:tblGrid>
              <a:tr h="1009333">
                <a:tc>
                  <a:txBody>
                    <a:bodyPr/>
                    <a:lstStyle/>
                    <a:p>
                      <a:pPr rtl="0" fontAlgn="ctr">
                        <a:buNone/>
                      </a:pPr>
                      <a:r>
                        <a:rPr lang="en-IN" sz="2800" dirty="0" err="1">
                          <a:solidFill>
                            <a:schemeClr val="bg2"/>
                          </a:solidFill>
                          <a:effectLst/>
                          <a:latin typeface="Calibri" panose="020F0502020204030204" pitchFamily="34" charset="0"/>
                        </a:rPr>
                        <a:t>WeatherGuardian</a:t>
                      </a:r>
                      <a:r>
                        <a:rPr lang="en-IN" sz="2800" dirty="0">
                          <a:solidFill>
                            <a:schemeClr val="bg2"/>
                          </a:solidFill>
                          <a:effectLst/>
                          <a:latin typeface="Calibri" panose="020F0502020204030204" pitchFamily="34" charset="0"/>
                        </a:rPr>
                        <a:t> AI: An Agentic and Service-Oriented Framework for Intelligent Weather Advisory Management</a:t>
                      </a:r>
                    </a:p>
                  </a:txBody>
                  <a:tcPr marL="22860" marR="22860"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1564528"/>
                  </a:ext>
                </a:extLst>
              </a:tr>
            </a:tbl>
          </a:graphicData>
        </a:graphic>
      </p:graphicFrame>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CBBD2AD-CA4B-40B7-B7F6-5A567EB7E4C0}" type="datetime3">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26 August 2026</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Ph.D. Viva Voce</a:t>
            </a: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Research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03407" y="299384"/>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5BDEC05E-084E-4670-BA00-824BFCE1FEA2}"/>
              </a:ext>
            </a:extLst>
          </p:cNvPr>
          <p:cNvSpPr txBox="1"/>
          <p:nvPr/>
        </p:nvSpPr>
        <p:spPr>
          <a:xfrm>
            <a:off x="1494503" y="1536174"/>
            <a:ext cx="9753600" cy="3785652"/>
          </a:xfrm>
          <a:prstGeom prst="rect">
            <a:avLst/>
          </a:prstGeom>
          <a:noFill/>
        </p:spPr>
        <p:txBody>
          <a:bodyPr wrap="square">
            <a:spAutoFit/>
          </a:bodyPr>
          <a:lstStyle/>
          <a:p>
            <a:r>
              <a:rPr lang="en-IN" sz="2000" dirty="0"/>
              <a:t>Existing weather applications mainly provide raw weather information such as temperature, humidity, rainfall, wind speed, and forecasts, but they often require users to interpret this information themselves. They may also lack an integrated mechanism for </a:t>
            </a:r>
            <a:r>
              <a:rPr lang="en-IN" sz="2000" dirty="0" err="1"/>
              <a:t>analyzing</a:t>
            </a:r>
            <a:r>
              <a:rPr lang="en-IN" sz="2000" dirty="0"/>
              <a:t> weather conditions, identifying potential risks, and providing personalized and timely advisories. Furthermore, tightly coupled weather applications can be difficult to maintain, scale, and integrate with external services. Therefore, there is a need for an intelligent and flexible weather advisory system that can collect real-time weather data, </a:t>
            </a:r>
            <a:r>
              <a:rPr lang="en-IN" sz="2000" dirty="0" err="1"/>
              <a:t>analyze</a:t>
            </a:r>
            <a:r>
              <a:rPr lang="en-IN" sz="2000" dirty="0"/>
              <a:t> potential risks, generate meaningful recommendations, and deliver timely alerts. The proposed </a:t>
            </a:r>
            <a:r>
              <a:rPr lang="en-IN" sz="2000" b="1" dirty="0" err="1"/>
              <a:t>WeatherGuardian</a:t>
            </a:r>
            <a:r>
              <a:rPr lang="en-IN" sz="2000" b="1" dirty="0"/>
              <a:t> AI</a:t>
            </a:r>
            <a:r>
              <a:rPr lang="en-IN" sz="2000" dirty="0"/>
              <a:t> addresses this problem by using a </a:t>
            </a:r>
            <a:r>
              <a:rPr lang="en-IN" sz="2000" b="1" dirty="0"/>
              <a:t>Service-Oriented Architecture (SOA)</a:t>
            </a:r>
            <a:r>
              <a:rPr lang="en-IN" sz="2000" dirty="0"/>
              <a:t> consisting of independent and reusable services that communicate through APIs, while an AI-based advisory service converts </a:t>
            </a:r>
            <a:r>
              <a:rPr lang="en-IN" sz="2000" dirty="0" err="1"/>
              <a:t>analyzed</a:t>
            </a:r>
            <a:r>
              <a:rPr lang="en-IN" sz="2000" dirty="0"/>
              <a:t> weather information into actionable recommendations.</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79001"/>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7" name="TextBox 6">
            <a:extLst>
              <a:ext uri="{FF2B5EF4-FFF2-40B4-BE49-F238E27FC236}">
                <a16:creationId xmlns:a16="http://schemas.microsoft.com/office/drawing/2014/main" id="{2F2CB780-42C1-E681-3EE5-051925844652}"/>
              </a:ext>
            </a:extLst>
          </p:cNvPr>
          <p:cNvSpPr txBox="1"/>
          <p:nvPr/>
        </p:nvSpPr>
        <p:spPr>
          <a:xfrm>
            <a:off x="1563329" y="1769806"/>
            <a:ext cx="9615948" cy="3693319"/>
          </a:xfrm>
          <a:prstGeom prst="rect">
            <a:avLst/>
          </a:prstGeom>
          <a:noFill/>
        </p:spPr>
        <p:txBody>
          <a:bodyPr wrap="square">
            <a:spAutoFit/>
          </a:bodyPr>
          <a:lstStyle/>
          <a:p>
            <a:pPr marL="342900" lvl="0" indent="-342900">
              <a:buFont typeface="Arial" panose="020B0604020202020204" pitchFamily="34" charset="0"/>
              <a:buChar char="•"/>
            </a:pPr>
            <a:r>
              <a:rPr lang="en-IN" b="1" dirty="0"/>
              <a:t>To develop</a:t>
            </a:r>
            <a:r>
              <a:rPr lang="en-IN" dirty="0"/>
              <a:t> an intelligent weather advisory system using </a:t>
            </a:r>
            <a:r>
              <a:rPr lang="en-IN" b="1" dirty="0"/>
              <a:t>Service-Oriented Architecture (SOA)</a:t>
            </a:r>
            <a:r>
              <a:rPr lang="en-IN" dirty="0"/>
              <a:t> principles. </a:t>
            </a:r>
          </a:p>
          <a:p>
            <a:pPr marL="342900" lvl="0" indent="-342900">
              <a:buFont typeface="Arial" panose="020B0604020202020204" pitchFamily="34" charset="0"/>
              <a:buChar char="•"/>
            </a:pPr>
            <a:r>
              <a:rPr lang="en-IN" b="1" dirty="0"/>
              <a:t>To collect and process</a:t>
            </a:r>
            <a:r>
              <a:rPr lang="en-IN" dirty="0"/>
              <a:t> real-time weather data from external weather APIs. </a:t>
            </a:r>
          </a:p>
          <a:p>
            <a:pPr marL="342900" lvl="0" indent="-342900">
              <a:buFont typeface="Arial" panose="020B0604020202020204" pitchFamily="34" charset="0"/>
              <a:buChar char="•"/>
            </a:pPr>
            <a:r>
              <a:rPr lang="en-IN" b="1" dirty="0"/>
              <a:t>To </a:t>
            </a:r>
            <a:r>
              <a:rPr lang="en-IN" b="1" dirty="0" err="1"/>
              <a:t>analyze</a:t>
            </a:r>
            <a:r>
              <a:rPr lang="en-IN" dirty="0"/>
              <a:t> weather conditions and identify potential risks such as heavy rainfall, extreme heat, storms, and strong winds. </a:t>
            </a:r>
          </a:p>
          <a:p>
            <a:pPr marL="342900" lvl="0" indent="-342900">
              <a:buFont typeface="Arial" panose="020B0604020202020204" pitchFamily="34" charset="0"/>
              <a:buChar char="•"/>
            </a:pPr>
            <a:r>
              <a:rPr lang="en-IN" b="1" dirty="0"/>
              <a:t>To generate</a:t>
            </a:r>
            <a:r>
              <a:rPr lang="en-IN" dirty="0"/>
              <a:t> intelligent and personalized weather advisories using an </a:t>
            </a:r>
            <a:r>
              <a:rPr lang="en-IN" b="1" dirty="0"/>
              <a:t>AI-based advisory service</a:t>
            </a:r>
            <a:r>
              <a:rPr lang="en-IN" dirty="0"/>
              <a:t>. </a:t>
            </a:r>
          </a:p>
          <a:p>
            <a:pPr marL="342900" lvl="0" indent="-342900">
              <a:buFont typeface="Arial" panose="020B0604020202020204" pitchFamily="34" charset="0"/>
              <a:buChar char="•"/>
            </a:pPr>
            <a:r>
              <a:rPr lang="en-IN" b="1" dirty="0"/>
              <a:t>To provide</a:t>
            </a:r>
            <a:r>
              <a:rPr lang="en-IN" dirty="0"/>
              <a:t> timely weather alerts and notifications to users during critical weather conditions. </a:t>
            </a:r>
          </a:p>
          <a:p>
            <a:pPr marL="342900" lvl="0" indent="-342900">
              <a:buFont typeface="Arial" panose="020B0604020202020204" pitchFamily="34" charset="0"/>
              <a:buChar char="•"/>
            </a:pPr>
            <a:r>
              <a:rPr lang="en-IN" b="1" dirty="0"/>
              <a:t>To design</a:t>
            </a:r>
            <a:r>
              <a:rPr lang="en-IN" dirty="0"/>
              <a:t> independent, reusable, and loosely coupled services that can communicate through </a:t>
            </a:r>
            <a:r>
              <a:rPr lang="en-IN" b="1" dirty="0"/>
              <a:t>RESTful APIs</a:t>
            </a:r>
            <a:r>
              <a:rPr lang="en-IN" dirty="0"/>
              <a:t>. </a:t>
            </a:r>
          </a:p>
          <a:p>
            <a:pPr marL="342900" lvl="0" indent="-342900">
              <a:buFont typeface="Arial" panose="020B0604020202020204" pitchFamily="34" charset="0"/>
              <a:buChar char="•"/>
            </a:pPr>
            <a:r>
              <a:rPr lang="en-IN" b="1" dirty="0"/>
              <a:t>To improve</a:t>
            </a:r>
            <a:r>
              <a:rPr lang="en-IN" dirty="0"/>
              <a:t> the scalability, maintainability, interoperability, and reliability of the overall weather advisory system.</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224929908"/>
              </p:ext>
            </p:extLst>
          </p:nvPr>
        </p:nvGraphicFramePr>
        <p:xfrm>
          <a:off x="250394" y="523220"/>
          <a:ext cx="11691211" cy="6400800"/>
        </p:xfrm>
        <a:graphic>
          <a:graphicData uri="http://schemas.openxmlformats.org/drawingml/2006/table">
            <a:tbl>
              <a:tblPr firstRow="1" bandRow="1">
                <a:tableStyleId>{BC89EF96-8CEA-46FF-86C4-4CE0E7609802}</a:tableStyleId>
              </a:tblPr>
              <a:tblGrid>
                <a:gridCol w="1093543">
                  <a:extLst>
                    <a:ext uri="{9D8B030D-6E8A-4147-A177-3AD203B41FA5}">
                      <a16:colId xmlns:a16="http://schemas.microsoft.com/office/drawing/2014/main" val="20001"/>
                    </a:ext>
                  </a:extLst>
                </a:gridCol>
                <a:gridCol w="2284767">
                  <a:extLst>
                    <a:ext uri="{9D8B030D-6E8A-4147-A177-3AD203B41FA5}">
                      <a16:colId xmlns:a16="http://schemas.microsoft.com/office/drawing/2014/main" val="20002"/>
                    </a:ext>
                  </a:extLst>
                </a:gridCol>
                <a:gridCol w="2486425">
                  <a:extLst>
                    <a:ext uri="{9D8B030D-6E8A-4147-A177-3AD203B41FA5}">
                      <a16:colId xmlns:a16="http://schemas.microsoft.com/office/drawing/2014/main" val="20003"/>
                    </a:ext>
                  </a:extLst>
                </a:gridCol>
                <a:gridCol w="2948822">
                  <a:extLst>
                    <a:ext uri="{9D8B030D-6E8A-4147-A177-3AD203B41FA5}">
                      <a16:colId xmlns:a16="http://schemas.microsoft.com/office/drawing/2014/main" val="20004"/>
                    </a:ext>
                  </a:extLst>
                </a:gridCol>
                <a:gridCol w="2877654">
                  <a:extLst>
                    <a:ext uri="{9D8B030D-6E8A-4147-A177-3AD203B41FA5}">
                      <a16:colId xmlns:a16="http://schemas.microsoft.com/office/drawing/2014/main" val="1396003017"/>
                    </a:ext>
                  </a:extLst>
                </a:gridCol>
              </a:tblGrid>
              <a:tr h="319133">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69072">
                <a:tc>
                  <a:txBody>
                    <a:bodyPr/>
                    <a:lstStyle/>
                    <a:p>
                      <a:pPr marL="0" algn="l" defTabSz="914400" rtl="0" eaLnBrk="1" latinLnBrk="0" hangingPunct="1"/>
                      <a:r>
                        <a:rPr lang="en-IN" sz="1400" dirty="0"/>
                        <a:t>Vaughan et al.</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b="1" dirty="0"/>
                        <a:t>Aardvark Weather: End-to-End Data-Driven Weather Forecasting</a:t>
                      </a:r>
                      <a:r>
                        <a:rPr lang="en-IN" sz="1400" dirty="0"/>
                        <a:t>, </a:t>
                      </a:r>
                    </a:p>
                    <a:p>
                      <a:r>
                        <a:rPr lang="en-IN" sz="1400" b="1" i="0" kern="1200" dirty="0">
                          <a:solidFill>
                            <a:schemeClr val="tx1"/>
                          </a:solidFill>
                          <a:effectLst/>
                          <a:latin typeface="Times New Roman" panose="02020603050405020304" pitchFamily="18" charset="0"/>
                          <a:ea typeface="+mn-ea"/>
                          <a:cs typeface="Times New Roman" panose="02020603050405020304" pitchFamily="18" charset="0"/>
                        </a:rPr>
                        <a:t>2024</a:t>
                      </a: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 End-to-end Machine Learning approach for weather forecasting. </a:t>
                      </a:r>
                      <a:br>
                        <a:rPr lang="en-IN" sz="1400" dirty="0"/>
                      </a:br>
                      <a:r>
                        <a:rPr lang="en-IN" sz="1400" dirty="0"/>
                        <a:t>• Uses raw weather observations as input. </a:t>
                      </a:r>
                      <a:br>
                        <a:rPr lang="en-IN" sz="1400" dirty="0"/>
                      </a:br>
                      <a:r>
                        <a:rPr lang="en-IN" sz="1400" dirty="0"/>
                        <a:t>• Generates global and local weather forecasts using a neural model.</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 Demonstrated that AI can produce competitive weather forecasts with significantly lower computational requirements. </a:t>
                      </a:r>
                      <a:br>
                        <a:rPr lang="en-IN" sz="1400" dirty="0"/>
                      </a:br>
                      <a:r>
                        <a:rPr lang="en-IN" sz="1400" dirty="0"/>
                        <a:t>• Shows potential for fast and affordable forecasting for different applications.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t>• Further validation is required for different geographical regions and extreme weather conditions. </a:t>
                      </a:r>
                      <a:br>
                        <a:rPr lang="en-IN" sz="1400" dirty="0"/>
                      </a:br>
                      <a:r>
                        <a:rPr lang="en-IN" sz="1400" dirty="0"/>
                        <a:t>• Future work can focus on personalized weather services and integration with decision-support systems.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941395">
                <a:tc>
                  <a:txBody>
                    <a:bodyPr/>
                    <a:lstStyle/>
                    <a:p>
                      <a:pPr marL="0" algn="l" defTabSz="914400" rtl="0" eaLnBrk="1" latinLnBrk="0" hangingPunct="1"/>
                      <a:r>
                        <a:rPr lang="en-IN" sz="1400" dirty="0"/>
                        <a:t>Kim et al.</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b="1" dirty="0"/>
                        <a:t>Explainable AI-Based Interface System for Weather Forecasting Model</a:t>
                      </a:r>
                      <a:r>
                        <a:rPr lang="en-IN" sz="1400" dirty="0"/>
                        <a:t>, 2025</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 Applies Explainable AI (XAI) to weather forecasting. </a:t>
                      </a:r>
                      <a:br>
                        <a:rPr lang="en-IN" sz="1400" dirty="0"/>
                      </a:br>
                      <a:r>
                        <a:rPr lang="en-IN" sz="1400" dirty="0"/>
                        <a:t>• Provides explanations for model predictions and confidence. </a:t>
                      </a:r>
                      <a:br>
                        <a:rPr lang="en-IN" sz="1400" dirty="0"/>
                      </a:br>
                      <a:r>
                        <a:rPr lang="en-IN" sz="1400" dirty="0"/>
                        <a:t>• Develops a user-</a:t>
                      </a:r>
                      <a:r>
                        <a:rPr lang="en-IN" sz="1400" dirty="0" err="1"/>
                        <a:t>centered</a:t>
                      </a:r>
                      <a:r>
                        <a:rPr lang="en-IN" sz="1400" dirty="0"/>
                        <a:t> interface for interpreting weather predictions.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Explanations can improve user trust and decision-making. </a:t>
                      </a:r>
                    </a:p>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 Demonstrates the importance of making AI weather predictions understandable to users.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t>• The study focuses mainly on explainability rather than complete automated advisory generation. </a:t>
                      </a:r>
                      <a:br>
                        <a:rPr lang="en-IN" sz="1400" dirty="0"/>
                      </a:br>
                      <a:r>
                        <a:rPr lang="en-IN" sz="1400" dirty="0"/>
                        <a:t>• Future work can integrate XAI with real-time alerts and personalized recommendations.</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941395">
                <a:tc>
                  <a:txBody>
                    <a:bodyPr/>
                    <a:lstStyle/>
                    <a:p>
                      <a:pPr marL="0" algn="l" defTabSz="914400" rtl="0" eaLnBrk="1" latinLnBrk="0" hangingPunct="1"/>
                      <a:r>
                        <a:rPr lang="en-IN" sz="1400" dirty="0"/>
                        <a:t>Shi et al.</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b="1" dirty="0"/>
                        <a:t>A Service-Oriented Architecture for Ensemble Flood Forecast from Numerical Weather Prediction</a:t>
                      </a:r>
                      <a:r>
                        <a:rPr lang="en-IN" sz="1400" dirty="0"/>
                        <a:t>, 2015</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 Uses Service-Oriented Architecture (SOA) for weather-based flood forecasting. </a:t>
                      </a:r>
                      <a:br>
                        <a:rPr lang="en-IN" sz="1400" dirty="0"/>
                      </a:br>
                      <a:r>
                        <a:rPr lang="en-IN" sz="1400" dirty="0"/>
                        <a:t>• Integrates Numerical Weather Prediction, cloud computing and interactive web services. </a:t>
                      </a:r>
                      <a:br>
                        <a:rPr lang="en-IN" sz="1400" dirty="0"/>
                      </a:b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 Demonstrates that SOA can integrate weather prediction and downstream decision-support services effectively. </a:t>
                      </a:r>
                      <a:br>
                        <a:rPr lang="en-IN" sz="1400" dirty="0"/>
                      </a:br>
                      <a:r>
                        <a:rPr lang="en-IN" sz="1400" dirty="0"/>
                        <a:t>• Provides a foundation for scalable weather-related advisory applications.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t>• The framework primarily focuses on flood forecasting rather than general-purpose personalized weather advisory. </a:t>
                      </a:r>
                      <a:br>
                        <a:rPr lang="en-IN" sz="1400" dirty="0"/>
                      </a:br>
                      <a:r>
                        <a:rPr lang="en-IN" sz="1400" dirty="0"/>
                        <a:t>• Future work can incorporate AI-based prediction, automated decision-making and intelligent agent-based services</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6" y="0"/>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fld id="{022A9A8C-9B92-4D48-A6C8-6870D9F00B9F}" type="datetime3">
              <a:rPr lang="en-US" smtClean="0"/>
              <a:t>26 August 2026</a:t>
            </a:fld>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r>
              <a:rPr lang="en-IN"/>
              <a:t>Ph.D. Viva Voce</a:t>
            </a: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481186" y="0"/>
            <a:ext cx="1710813" cy="548263"/>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812D-B6CE-21A0-4BFD-181A390214C1}"/>
              </a:ext>
            </a:extLst>
          </p:cNvPr>
          <p:cNvSpPr>
            <a:spLocks noGrp="1"/>
          </p:cNvSpPr>
          <p:nvPr>
            <p:ph type="title"/>
          </p:nvPr>
        </p:nvSpPr>
        <p:spPr>
          <a:xfrm>
            <a:off x="2374490" y="591267"/>
            <a:ext cx="7607710" cy="549275"/>
          </a:xfrm>
        </p:spPr>
        <p:txBody>
          <a:bodyPr>
            <a:normAutofit fontScale="90000"/>
          </a:bodyPr>
          <a:lstStyle/>
          <a:p>
            <a:r>
              <a:rPr lang="en-US" b="1" dirty="0"/>
              <a:t>Research Gap Identification</a:t>
            </a:r>
            <a:br>
              <a:rPr lang="en-US" b="1" dirty="0"/>
            </a:br>
            <a:endParaRPr lang="en-IN" dirty="0"/>
          </a:p>
        </p:txBody>
      </p:sp>
      <p:sp>
        <p:nvSpPr>
          <p:cNvPr id="3" name="Content Placeholder 2">
            <a:extLst>
              <a:ext uri="{FF2B5EF4-FFF2-40B4-BE49-F238E27FC236}">
                <a16:creationId xmlns:a16="http://schemas.microsoft.com/office/drawing/2014/main" id="{162A616A-53CF-49EF-266B-1333E8A2EBCA}"/>
              </a:ext>
            </a:extLst>
          </p:cNvPr>
          <p:cNvSpPr>
            <a:spLocks noGrp="1"/>
          </p:cNvSpPr>
          <p:nvPr>
            <p:ph idx="1"/>
          </p:nvPr>
        </p:nvSpPr>
        <p:spPr>
          <a:xfrm>
            <a:off x="838200" y="1474839"/>
            <a:ext cx="10515600" cy="4702124"/>
          </a:xfrm>
        </p:spPr>
        <p:txBody>
          <a:bodyPr>
            <a:normAutofit/>
          </a:bodyPr>
          <a:lstStyle/>
          <a:p>
            <a:pPr lvl="0"/>
            <a:r>
              <a:rPr lang="en-IN" dirty="0"/>
              <a:t>Existing weather systems mainly focus on </a:t>
            </a:r>
            <a:r>
              <a:rPr lang="en-IN" b="1" dirty="0"/>
              <a:t>weather prediction</a:t>
            </a:r>
            <a:r>
              <a:rPr lang="en-IN" dirty="0"/>
              <a:t> rather than providing useful advice. </a:t>
            </a:r>
          </a:p>
          <a:p>
            <a:pPr lvl="0"/>
            <a:r>
              <a:rPr lang="en-IN" dirty="0"/>
              <a:t>Most systems do not provide </a:t>
            </a:r>
            <a:r>
              <a:rPr lang="en-IN" b="1" dirty="0"/>
              <a:t>personalized weather recommendations</a:t>
            </a:r>
            <a:r>
              <a:rPr lang="en-IN" dirty="0"/>
              <a:t> based on user location and conditions. </a:t>
            </a:r>
          </a:p>
          <a:p>
            <a:pPr lvl="0"/>
            <a:r>
              <a:rPr lang="en-IN" dirty="0"/>
              <a:t>Limited use of </a:t>
            </a:r>
            <a:r>
              <a:rPr lang="en-IN" b="1" dirty="0"/>
              <a:t>agentic AI</a:t>
            </a:r>
            <a:r>
              <a:rPr lang="en-IN" dirty="0"/>
              <a:t> for automatic risk analysis and decision-making. </a:t>
            </a:r>
          </a:p>
          <a:p>
            <a:pPr lvl="0"/>
            <a:r>
              <a:rPr lang="en-IN" dirty="0"/>
              <a:t>Weather prediction, alert generation, and user communication are often handled as </a:t>
            </a:r>
            <a:r>
              <a:rPr lang="en-IN" b="1" dirty="0"/>
              <a:t>separate services</a:t>
            </a:r>
            <a:r>
              <a:rPr lang="en-IN" dirty="0"/>
              <a:t>. </a:t>
            </a:r>
          </a:p>
          <a:p>
            <a:pPr lvl="0"/>
            <a:r>
              <a:rPr lang="en-IN" dirty="0"/>
              <a:t>There is a need for an integrated system that provides </a:t>
            </a:r>
            <a:r>
              <a:rPr lang="en-IN" b="1" dirty="0"/>
              <a:t>real-time, explainable, and actionable weather advisories</a:t>
            </a:r>
            <a:r>
              <a:rPr lang="en-IN" dirty="0"/>
              <a:t>.</a:t>
            </a:r>
          </a:p>
          <a:p>
            <a:endParaRPr lang="en-IN" dirty="0"/>
          </a:p>
        </p:txBody>
      </p:sp>
      <p:sp>
        <p:nvSpPr>
          <p:cNvPr id="4" name="Date Placeholder 3">
            <a:extLst>
              <a:ext uri="{FF2B5EF4-FFF2-40B4-BE49-F238E27FC236}">
                <a16:creationId xmlns:a16="http://schemas.microsoft.com/office/drawing/2014/main" id="{1AB6E9A5-D963-203F-12B9-47E1F74BF6DD}"/>
              </a:ext>
            </a:extLst>
          </p:cNvPr>
          <p:cNvSpPr>
            <a:spLocks noGrp="1"/>
          </p:cNvSpPr>
          <p:nvPr>
            <p:ph type="dt" sz="half" idx="10"/>
          </p:nvPr>
        </p:nvSpPr>
        <p:spPr/>
        <p:txBody>
          <a:bodyPr/>
          <a:lstStyle/>
          <a:p>
            <a:fld id="{CF411EB6-9770-43AB-BBCE-044F1DB66B82}" type="datetime3">
              <a:rPr lang="en-US" smtClean="0"/>
              <a:t>26 August 2026</a:t>
            </a:fld>
            <a:endParaRPr lang="en-IN"/>
          </a:p>
        </p:txBody>
      </p:sp>
      <p:sp>
        <p:nvSpPr>
          <p:cNvPr id="5" name="Footer Placeholder 4">
            <a:extLst>
              <a:ext uri="{FF2B5EF4-FFF2-40B4-BE49-F238E27FC236}">
                <a16:creationId xmlns:a16="http://schemas.microsoft.com/office/drawing/2014/main" id="{3595D771-F255-EC7E-0BDD-832E4D45B9E3}"/>
              </a:ext>
            </a:extLst>
          </p:cNvPr>
          <p:cNvSpPr>
            <a:spLocks noGrp="1"/>
          </p:cNvSpPr>
          <p:nvPr>
            <p:ph type="ftr" sz="quarter" idx="11"/>
          </p:nvPr>
        </p:nvSpPr>
        <p:spPr/>
        <p:txBody>
          <a:bodyPr/>
          <a:lstStyle/>
          <a:p>
            <a:r>
              <a:rPr lang="en-IN"/>
              <a:t>Ph.D. Viva Voce</a:t>
            </a:r>
          </a:p>
        </p:txBody>
      </p:sp>
      <p:sp>
        <p:nvSpPr>
          <p:cNvPr id="6" name="Slide Number Placeholder 5">
            <a:extLst>
              <a:ext uri="{FF2B5EF4-FFF2-40B4-BE49-F238E27FC236}">
                <a16:creationId xmlns:a16="http://schemas.microsoft.com/office/drawing/2014/main" id="{0EB3FD0D-1B12-49EF-4BAA-20C3BE5B3A4E}"/>
              </a:ext>
            </a:extLst>
          </p:cNvPr>
          <p:cNvSpPr>
            <a:spLocks noGrp="1"/>
          </p:cNvSpPr>
          <p:nvPr>
            <p:ph type="sldNum" sz="quarter" idx="12"/>
          </p:nvPr>
        </p:nvSpPr>
        <p:spPr/>
        <p:txBody>
          <a:bodyPr/>
          <a:lstStyle/>
          <a:p>
            <a:fld id="{01AD1135-6E10-4422-AC8B-257B84239C9C}" type="slidenum">
              <a:rPr lang="en-IN" smtClean="0"/>
              <a:t>6</a:t>
            </a:fld>
            <a:endParaRPr lang="en-IN"/>
          </a:p>
        </p:txBody>
      </p:sp>
    </p:spTree>
    <p:extLst>
      <p:ext uri="{BB962C8B-B14F-4D97-AF65-F5344CB8AC3E}">
        <p14:creationId xmlns:p14="http://schemas.microsoft.com/office/powerpoint/2010/main" val="2472628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2374841" y="390370"/>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5704747A-0098-A201-D841-A9FC325FB822}"/>
              </a:ext>
            </a:extLst>
          </p:cNvPr>
          <p:cNvSpPr txBox="1"/>
          <p:nvPr/>
        </p:nvSpPr>
        <p:spPr>
          <a:xfrm>
            <a:off x="2615380" y="1720840"/>
            <a:ext cx="10304207" cy="3785652"/>
          </a:xfrm>
          <a:prstGeom prst="rect">
            <a:avLst/>
          </a:prstGeom>
          <a:noFill/>
        </p:spPr>
        <p:txBody>
          <a:bodyPr wrap="square">
            <a:spAutoFit/>
          </a:bodyPr>
          <a:lstStyle/>
          <a:p>
            <a:pPr>
              <a:buNone/>
            </a:pPr>
            <a:r>
              <a:rPr lang="en-IN" sz="2000" b="1" dirty="0"/>
              <a:t>Innovation</a:t>
            </a:r>
          </a:p>
          <a:p>
            <a:pPr marL="342900" lvl="0" indent="-342900">
              <a:buFont typeface="Arial" panose="020B0604020202020204" pitchFamily="34" charset="0"/>
              <a:buChar char="•"/>
            </a:pPr>
            <a:r>
              <a:rPr lang="en-IN" sz="2000" dirty="0"/>
              <a:t>AI-based intelligent weather prediction </a:t>
            </a:r>
          </a:p>
          <a:p>
            <a:pPr marL="342900" lvl="0" indent="-342900">
              <a:buFont typeface="Arial" panose="020B0604020202020204" pitchFamily="34" charset="0"/>
              <a:buChar char="•"/>
            </a:pPr>
            <a:r>
              <a:rPr lang="en-IN" sz="2000" dirty="0"/>
              <a:t>Automatic risk detection </a:t>
            </a:r>
          </a:p>
          <a:p>
            <a:pPr marL="342900" lvl="0" indent="-342900">
              <a:buFont typeface="Arial" panose="020B0604020202020204" pitchFamily="34" charset="0"/>
              <a:buChar char="•"/>
            </a:pPr>
            <a:r>
              <a:rPr lang="en-IN" sz="2000" dirty="0"/>
              <a:t>Real-time weather monitoring </a:t>
            </a:r>
          </a:p>
          <a:p>
            <a:pPr>
              <a:buNone/>
            </a:pPr>
            <a:r>
              <a:rPr lang="en-IN" sz="2000" b="1" dirty="0"/>
              <a:t>Creativity</a:t>
            </a:r>
          </a:p>
          <a:p>
            <a:pPr marL="342900" lvl="0" indent="-342900">
              <a:buFont typeface="Arial" panose="020B0604020202020204" pitchFamily="34" charset="0"/>
              <a:buChar char="•"/>
            </a:pPr>
            <a:r>
              <a:rPr lang="en-IN" sz="2000" dirty="0"/>
              <a:t>Personalized weather recommendations </a:t>
            </a:r>
          </a:p>
          <a:p>
            <a:pPr marL="342900" lvl="0" indent="-342900">
              <a:buFont typeface="Arial" panose="020B0604020202020204" pitchFamily="34" charset="0"/>
              <a:buChar char="•"/>
            </a:pPr>
            <a:r>
              <a:rPr lang="en-IN" sz="2000" dirty="0"/>
              <a:t>Simple and user-friendly alerts </a:t>
            </a:r>
          </a:p>
          <a:p>
            <a:pPr marL="342900" lvl="0" indent="-342900">
              <a:buFont typeface="Arial" panose="020B0604020202020204" pitchFamily="34" charset="0"/>
              <a:buChar char="•"/>
            </a:pPr>
            <a:r>
              <a:rPr lang="en-IN" sz="2000" dirty="0"/>
              <a:t>Smart suggestions based on weather conditions </a:t>
            </a:r>
          </a:p>
          <a:p>
            <a:pPr>
              <a:buNone/>
            </a:pPr>
            <a:r>
              <a:rPr lang="en-IN" sz="2000" b="1" dirty="0"/>
              <a:t>Novelty</a:t>
            </a:r>
          </a:p>
          <a:p>
            <a:pPr marL="342900" lvl="0" indent="-342900">
              <a:buFont typeface="Arial" panose="020B0604020202020204" pitchFamily="34" charset="0"/>
              <a:buChar char="•"/>
            </a:pPr>
            <a:r>
              <a:rPr lang="en-IN" sz="2000" dirty="0"/>
              <a:t>Agentic AI for autonomous decision-making </a:t>
            </a:r>
          </a:p>
          <a:p>
            <a:pPr marL="342900" lvl="0" indent="-342900">
              <a:buFont typeface="Arial" panose="020B0604020202020204" pitchFamily="34" charset="0"/>
              <a:buChar char="•"/>
            </a:pPr>
            <a:r>
              <a:rPr lang="en-IN" sz="2000" dirty="0"/>
              <a:t>Integration of prediction, advisory, and alerts </a:t>
            </a:r>
          </a:p>
          <a:p>
            <a:pPr marL="342900" lvl="0" indent="-342900">
              <a:buFont typeface="Arial" panose="020B0604020202020204" pitchFamily="34" charset="0"/>
              <a:buChar char="•"/>
            </a:pPr>
            <a:r>
              <a:rPr lang="en-IN" sz="2000" dirty="0"/>
              <a:t>SOA-based scalable weather advisory framework </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3015366" y="475334"/>
            <a:ext cx="7234014" cy="707886"/>
          </a:xfrm>
          <a:prstGeom prst="rect">
            <a:avLst/>
          </a:prstGeom>
          <a:noFill/>
        </p:spPr>
        <p:txBody>
          <a:bodyPr wrap="square">
            <a:spAutoFit/>
          </a:bodyPr>
          <a:lstStyle/>
          <a:p>
            <a:pPr algn="ctr"/>
            <a:r>
              <a:rPr lang="en-US" sz="4000" b="1" dirty="0"/>
              <a:t>Feasibility</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A522328C-4191-B1A7-2E79-305EDF819082}"/>
              </a:ext>
            </a:extLst>
          </p:cNvPr>
          <p:cNvSpPr txBox="1"/>
          <p:nvPr/>
        </p:nvSpPr>
        <p:spPr>
          <a:xfrm>
            <a:off x="3015366" y="1327355"/>
            <a:ext cx="6128634" cy="5078313"/>
          </a:xfrm>
          <a:prstGeom prst="rect">
            <a:avLst/>
          </a:prstGeom>
          <a:noFill/>
        </p:spPr>
        <p:txBody>
          <a:bodyPr wrap="square">
            <a:spAutoFit/>
          </a:bodyPr>
          <a:lstStyle/>
          <a:p>
            <a:pPr>
              <a:buNone/>
            </a:pPr>
            <a:r>
              <a:rPr lang="en-IN" b="1" dirty="0"/>
              <a:t>1. Technical Feasibility</a:t>
            </a:r>
          </a:p>
          <a:p>
            <a:pPr marL="342900" lvl="0" indent="-342900">
              <a:buFont typeface="Arial" panose="020B0604020202020204" pitchFamily="34" charset="0"/>
              <a:buChar char="•"/>
            </a:pPr>
            <a:r>
              <a:rPr lang="en-IN" dirty="0"/>
              <a:t>Can be developed using </a:t>
            </a:r>
            <a:r>
              <a:rPr lang="en-IN" b="1" dirty="0"/>
              <a:t>Python, Machine Learning, APIs, and AI agents</a:t>
            </a:r>
            <a:r>
              <a:rPr lang="en-IN" dirty="0"/>
              <a:t>. </a:t>
            </a:r>
          </a:p>
          <a:p>
            <a:pPr marL="342900" lvl="0" indent="-342900">
              <a:buFont typeface="Arial" panose="020B0604020202020204" pitchFamily="34" charset="0"/>
              <a:buChar char="•"/>
            </a:pPr>
            <a:r>
              <a:rPr lang="en-IN" dirty="0"/>
              <a:t>Weather data can be obtained through </a:t>
            </a:r>
            <a:r>
              <a:rPr lang="en-IN" b="1" dirty="0"/>
              <a:t>weather APIs</a:t>
            </a:r>
            <a:r>
              <a:rPr lang="en-IN" dirty="0"/>
              <a:t>. </a:t>
            </a:r>
          </a:p>
          <a:p>
            <a:pPr marL="342900" lvl="0" indent="-342900">
              <a:buFont typeface="Arial" panose="020B0604020202020204" pitchFamily="34" charset="0"/>
              <a:buChar char="•"/>
            </a:pPr>
            <a:r>
              <a:rPr lang="en-IN" dirty="0"/>
              <a:t>Dashboard can be developed using </a:t>
            </a:r>
            <a:r>
              <a:rPr lang="en-IN" b="1" dirty="0" err="1"/>
              <a:t>Streamlit</a:t>
            </a:r>
            <a:r>
              <a:rPr lang="en-IN" b="1" dirty="0"/>
              <a:t>/React</a:t>
            </a:r>
            <a:r>
              <a:rPr lang="en-IN" dirty="0"/>
              <a:t>. </a:t>
            </a:r>
          </a:p>
          <a:p>
            <a:pPr marL="342900" lvl="0" indent="-342900">
              <a:buFont typeface="Arial" panose="020B0604020202020204" pitchFamily="34" charset="0"/>
              <a:buChar char="•"/>
            </a:pPr>
            <a:r>
              <a:rPr lang="en-IN" dirty="0"/>
              <a:t>SOA can be implemented using </a:t>
            </a:r>
            <a:r>
              <a:rPr lang="en-IN" b="1" dirty="0"/>
              <a:t>REST APIs and microservices</a:t>
            </a:r>
            <a:r>
              <a:rPr lang="en-IN" dirty="0"/>
              <a:t>. </a:t>
            </a:r>
          </a:p>
          <a:p>
            <a:pPr>
              <a:buNone/>
            </a:pPr>
            <a:r>
              <a:rPr lang="en-IN" b="1" dirty="0"/>
              <a:t>2. Economic Feasibility</a:t>
            </a:r>
          </a:p>
          <a:p>
            <a:pPr marL="342900" lvl="0" indent="-342900">
              <a:buFont typeface="Arial" panose="020B0604020202020204" pitchFamily="34" charset="0"/>
              <a:buChar char="•"/>
            </a:pPr>
            <a:r>
              <a:rPr lang="en-IN" dirty="0"/>
              <a:t>Uses mostly </a:t>
            </a:r>
            <a:r>
              <a:rPr lang="en-IN" b="1" dirty="0"/>
              <a:t>open-source tools and libraries</a:t>
            </a:r>
            <a:r>
              <a:rPr lang="en-IN" dirty="0"/>
              <a:t>. </a:t>
            </a:r>
          </a:p>
          <a:p>
            <a:pPr marL="342900" lvl="0" indent="-342900">
              <a:buFont typeface="Arial" panose="020B0604020202020204" pitchFamily="34" charset="0"/>
              <a:buChar char="•"/>
            </a:pPr>
            <a:r>
              <a:rPr lang="en-IN" dirty="0"/>
              <a:t>Weather APIs generally provide free/developer-level access. </a:t>
            </a:r>
          </a:p>
          <a:p>
            <a:pPr marL="342900" lvl="0" indent="-342900">
              <a:buFont typeface="Arial" panose="020B0604020202020204" pitchFamily="34" charset="0"/>
              <a:buChar char="•"/>
            </a:pPr>
            <a:r>
              <a:rPr lang="en-IN" dirty="0"/>
              <a:t>No expensive hardware is required. </a:t>
            </a:r>
          </a:p>
          <a:p>
            <a:pPr>
              <a:buNone/>
            </a:pPr>
            <a:r>
              <a:rPr lang="en-IN" b="1" dirty="0"/>
              <a:t>3. Operational Feasibility</a:t>
            </a:r>
          </a:p>
          <a:p>
            <a:pPr marL="342900" lvl="0" indent="-342900">
              <a:buFont typeface="Arial" panose="020B0604020202020204" pitchFamily="34" charset="0"/>
              <a:buChar char="•"/>
            </a:pPr>
            <a:r>
              <a:rPr lang="en-IN" dirty="0"/>
              <a:t>Provides a </a:t>
            </a:r>
            <a:r>
              <a:rPr lang="en-IN" b="1" dirty="0"/>
              <a:t>simple dashboard</a:t>
            </a:r>
            <a:r>
              <a:rPr lang="en-IN" dirty="0"/>
              <a:t> for users. </a:t>
            </a:r>
          </a:p>
          <a:p>
            <a:pPr marL="342900" lvl="0" indent="-342900">
              <a:buFont typeface="Arial" panose="020B0604020202020204" pitchFamily="34" charset="0"/>
              <a:buChar char="•"/>
            </a:pPr>
            <a:r>
              <a:rPr lang="en-IN" dirty="0"/>
              <a:t>Automatically </a:t>
            </a:r>
            <a:r>
              <a:rPr lang="en-IN" dirty="0" err="1"/>
              <a:t>analyzes</a:t>
            </a:r>
            <a:r>
              <a:rPr lang="en-IN" dirty="0"/>
              <a:t> weather conditions and generates advisories. </a:t>
            </a:r>
          </a:p>
          <a:p>
            <a:pPr marL="342900" lvl="0" indent="-342900">
              <a:buFont typeface="Arial" panose="020B0604020202020204" pitchFamily="34" charset="0"/>
              <a:buChar char="•"/>
            </a:pPr>
            <a:r>
              <a:rPr lang="en-IN" dirty="0"/>
              <a:t>Can be used for </a:t>
            </a:r>
            <a:r>
              <a:rPr lang="en-IN" b="1" dirty="0"/>
              <a:t>daily activities, travel, agriculture, and safety awareness</a:t>
            </a:r>
            <a:endParaRPr lang="en-IN" dirty="0"/>
          </a:p>
        </p:txBody>
      </p:sp>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59FA4-848D-4B04-EAAD-94640E067447}"/>
              </a:ext>
            </a:extLst>
          </p:cNvPr>
          <p:cNvSpPr>
            <a:spLocks noGrp="1"/>
          </p:cNvSpPr>
          <p:nvPr>
            <p:ph type="title"/>
          </p:nvPr>
        </p:nvSpPr>
        <p:spPr>
          <a:xfrm>
            <a:off x="3716593" y="255638"/>
            <a:ext cx="7519219" cy="973394"/>
          </a:xfrm>
        </p:spPr>
        <p:txBody>
          <a:bodyPr/>
          <a:lstStyle/>
          <a:p>
            <a:r>
              <a:rPr lang="en-US" b="1" dirty="0"/>
              <a:t>Project Plan</a:t>
            </a:r>
            <a:endParaRPr lang="en-IN" dirty="0"/>
          </a:p>
        </p:txBody>
      </p:sp>
      <p:graphicFrame>
        <p:nvGraphicFramePr>
          <p:cNvPr id="7" name="Content Placeholder 6">
            <a:extLst>
              <a:ext uri="{FF2B5EF4-FFF2-40B4-BE49-F238E27FC236}">
                <a16:creationId xmlns:a16="http://schemas.microsoft.com/office/drawing/2014/main" id="{43D9C3BB-FA0A-0F03-793E-8D4A4DAF19C7}"/>
              </a:ext>
            </a:extLst>
          </p:cNvPr>
          <p:cNvGraphicFramePr>
            <a:graphicFrameLocks noGrp="1"/>
          </p:cNvGraphicFramePr>
          <p:nvPr>
            <p:ph idx="1"/>
            <p:extLst>
              <p:ext uri="{D42A27DB-BD31-4B8C-83A1-F6EECF244321}">
                <p14:modId xmlns:p14="http://schemas.microsoft.com/office/powerpoint/2010/main" val="2546733334"/>
              </p:ext>
            </p:extLst>
          </p:nvPr>
        </p:nvGraphicFramePr>
        <p:xfrm>
          <a:off x="1619946" y="1514916"/>
          <a:ext cx="9266739" cy="4382820"/>
        </p:xfrm>
        <a:graphic>
          <a:graphicData uri="http://schemas.openxmlformats.org/drawingml/2006/table">
            <a:tbl>
              <a:tblPr/>
              <a:tblGrid>
                <a:gridCol w="3088913">
                  <a:extLst>
                    <a:ext uri="{9D8B030D-6E8A-4147-A177-3AD203B41FA5}">
                      <a16:colId xmlns:a16="http://schemas.microsoft.com/office/drawing/2014/main" val="2240895500"/>
                    </a:ext>
                  </a:extLst>
                </a:gridCol>
                <a:gridCol w="3088913">
                  <a:extLst>
                    <a:ext uri="{9D8B030D-6E8A-4147-A177-3AD203B41FA5}">
                      <a16:colId xmlns:a16="http://schemas.microsoft.com/office/drawing/2014/main" val="2526800364"/>
                    </a:ext>
                  </a:extLst>
                </a:gridCol>
                <a:gridCol w="3088913">
                  <a:extLst>
                    <a:ext uri="{9D8B030D-6E8A-4147-A177-3AD203B41FA5}">
                      <a16:colId xmlns:a16="http://schemas.microsoft.com/office/drawing/2014/main" val="1934557881"/>
                    </a:ext>
                  </a:extLst>
                </a:gridCol>
              </a:tblGrid>
              <a:tr h="322321">
                <a:tc>
                  <a:txBody>
                    <a:bodyPr/>
                    <a:lstStyle/>
                    <a:p>
                      <a:pPr>
                        <a:buNone/>
                      </a:pPr>
                      <a:r>
                        <a:rPr lang="en-IN" sz="1600"/>
                        <a:t>Phase</a:t>
                      </a:r>
                    </a:p>
                  </a:txBody>
                  <a:tcPr marL="80580" marR="80580" marT="40290" marB="40290" anchor="ctr">
                    <a:lnL>
                      <a:noFill/>
                    </a:lnL>
                    <a:lnR>
                      <a:noFill/>
                    </a:lnR>
                    <a:lnT>
                      <a:noFill/>
                    </a:lnT>
                    <a:lnB>
                      <a:noFill/>
                    </a:lnB>
                    <a:noFill/>
                  </a:tcPr>
                </a:tc>
                <a:tc>
                  <a:txBody>
                    <a:bodyPr/>
                    <a:lstStyle/>
                    <a:p>
                      <a:pPr>
                        <a:buNone/>
                      </a:pPr>
                      <a:r>
                        <a:rPr lang="en-IN" sz="1600"/>
                        <a:t>Work</a:t>
                      </a:r>
                    </a:p>
                  </a:txBody>
                  <a:tcPr marL="80580" marR="80580" marT="40290" marB="40290" anchor="ctr">
                    <a:lnL>
                      <a:noFill/>
                    </a:lnL>
                    <a:lnR>
                      <a:noFill/>
                    </a:lnR>
                    <a:lnT>
                      <a:noFill/>
                    </a:lnT>
                    <a:lnB>
                      <a:noFill/>
                    </a:lnB>
                    <a:noFill/>
                  </a:tcPr>
                </a:tc>
                <a:tc>
                  <a:txBody>
                    <a:bodyPr/>
                    <a:lstStyle/>
                    <a:p>
                      <a:pPr>
                        <a:buNone/>
                      </a:pPr>
                      <a:r>
                        <a:rPr lang="en-IN" sz="1600"/>
                        <a:t>Timeline</a:t>
                      </a:r>
                    </a:p>
                  </a:txBody>
                  <a:tcPr marL="80580" marR="80580" marT="40290" marB="40290" anchor="ctr">
                    <a:lnL>
                      <a:noFill/>
                    </a:lnL>
                    <a:lnR>
                      <a:noFill/>
                    </a:lnR>
                    <a:lnT>
                      <a:noFill/>
                    </a:lnT>
                    <a:lnB>
                      <a:noFill/>
                    </a:lnB>
                    <a:noFill/>
                  </a:tcPr>
                </a:tc>
                <a:extLst>
                  <a:ext uri="{0D108BD9-81ED-4DB2-BD59-A6C34878D82A}">
                    <a16:rowId xmlns:a16="http://schemas.microsoft.com/office/drawing/2014/main" val="2977439056"/>
                  </a:ext>
                </a:extLst>
              </a:tr>
              <a:tr h="564062">
                <a:tc>
                  <a:txBody>
                    <a:bodyPr/>
                    <a:lstStyle/>
                    <a:p>
                      <a:pPr>
                        <a:buNone/>
                      </a:pPr>
                      <a:r>
                        <a:rPr lang="en-IN" sz="1600" b="1"/>
                        <a:t>Phase 1</a:t>
                      </a:r>
                      <a:endParaRPr lang="en-IN" sz="1600"/>
                    </a:p>
                  </a:txBody>
                  <a:tcPr marL="80580" marR="80580" marT="40290" marB="40290" anchor="ctr">
                    <a:lnL>
                      <a:noFill/>
                    </a:lnL>
                    <a:lnR>
                      <a:noFill/>
                    </a:lnR>
                    <a:lnT>
                      <a:noFill/>
                    </a:lnT>
                    <a:lnB>
                      <a:noFill/>
                    </a:lnB>
                    <a:noFill/>
                  </a:tcPr>
                </a:tc>
                <a:tc>
                  <a:txBody>
                    <a:bodyPr/>
                    <a:lstStyle/>
                    <a:p>
                      <a:pPr>
                        <a:buNone/>
                      </a:pPr>
                      <a:r>
                        <a:rPr lang="en-IN" sz="1600"/>
                        <a:t>Literature Survey &amp; Requirement Analysis</a:t>
                      </a:r>
                    </a:p>
                  </a:txBody>
                  <a:tcPr marL="80580" marR="80580" marT="40290" marB="40290" anchor="ctr">
                    <a:lnL>
                      <a:noFill/>
                    </a:lnL>
                    <a:lnR>
                      <a:noFill/>
                    </a:lnR>
                    <a:lnT>
                      <a:noFill/>
                    </a:lnT>
                    <a:lnB>
                      <a:noFill/>
                    </a:lnB>
                    <a:noFill/>
                  </a:tcPr>
                </a:tc>
                <a:tc>
                  <a:txBody>
                    <a:bodyPr/>
                    <a:lstStyle/>
                    <a:p>
                      <a:pPr>
                        <a:buNone/>
                      </a:pPr>
                      <a:r>
                        <a:rPr lang="en-IN" sz="1600" b="1" dirty="0"/>
                        <a:t>Aug 12 – Aug 20</a:t>
                      </a:r>
                      <a:endParaRPr lang="en-IN" sz="1600" dirty="0"/>
                    </a:p>
                  </a:txBody>
                  <a:tcPr marL="80580" marR="80580" marT="40290" marB="40290" anchor="ctr">
                    <a:lnL>
                      <a:noFill/>
                    </a:lnL>
                    <a:lnR>
                      <a:noFill/>
                    </a:lnR>
                    <a:lnT>
                      <a:noFill/>
                    </a:lnT>
                    <a:lnB>
                      <a:noFill/>
                    </a:lnB>
                    <a:noFill/>
                  </a:tcPr>
                </a:tc>
                <a:extLst>
                  <a:ext uri="{0D108BD9-81ED-4DB2-BD59-A6C34878D82A}">
                    <a16:rowId xmlns:a16="http://schemas.microsoft.com/office/drawing/2014/main" val="745625553"/>
                  </a:ext>
                </a:extLst>
              </a:tr>
              <a:tr h="564062">
                <a:tc>
                  <a:txBody>
                    <a:bodyPr/>
                    <a:lstStyle/>
                    <a:p>
                      <a:pPr>
                        <a:buNone/>
                      </a:pPr>
                      <a:r>
                        <a:rPr lang="en-IN" sz="1600" b="1"/>
                        <a:t>Phase 2</a:t>
                      </a:r>
                      <a:endParaRPr lang="en-IN" sz="1600"/>
                    </a:p>
                  </a:txBody>
                  <a:tcPr marL="80580" marR="80580" marT="40290" marB="40290" anchor="ctr">
                    <a:lnL>
                      <a:noFill/>
                    </a:lnL>
                    <a:lnR>
                      <a:noFill/>
                    </a:lnR>
                    <a:lnT>
                      <a:noFill/>
                    </a:lnT>
                    <a:lnB>
                      <a:noFill/>
                    </a:lnB>
                    <a:noFill/>
                  </a:tcPr>
                </a:tc>
                <a:tc>
                  <a:txBody>
                    <a:bodyPr/>
                    <a:lstStyle/>
                    <a:p>
                      <a:pPr>
                        <a:buNone/>
                      </a:pPr>
                      <a:r>
                        <a:rPr lang="en-IN" sz="1600" dirty="0"/>
                        <a:t>System Architecture &amp; Technology Selection</a:t>
                      </a:r>
                    </a:p>
                  </a:txBody>
                  <a:tcPr marL="80580" marR="80580" marT="40290" marB="40290" anchor="ctr">
                    <a:lnL>
                      <a:noFill/>
                    </a:lnL>
                    <a:lnR>
                      <a:noFill/>
                    </a:lnR>
                    <a:lnT>
                      <a:noFill/>
                    </a:lnT>
                    <a:lnB>
                      <a:noFill/>
                    </a:lnB>
                    <a:noFill/>
                  </a:tcPr>
                </a:tc>
                <a:tc>
                  <a:txBody>
                    <a:bodyPr/>
                    <a:lstStyle/>
                    <a:p>
                      <a:pPr>
                        <a:buNone/>
                      </a:pPr>
                      <a:r>
                        <a:rPr lang="en-IN" sz="1600" b="1"/>
                        <a:t>Aug 21 – Aug 27</a:t>
                      </a:r>
                      <a:endParaRPr lang="en-IN" sz="1600"/>
                    </a:p>
                  </a:txBody>
                  <a:tcPr marL="80580" marR="80580" marT="40290" marB="40290" anchor="ctr">
                    <a:lnL>
                      <a:noFill/>
                    </a:lnL>
                    <a:lnR>
                      <a:noFill/>
                    </a:lnR>
                    <a:lnT>
                      <a:noFill/>
                    </a:lnT>
                    <a:lnB>
                      <a:noFill/>
                    </a:lnB>
                    <a:noFill/>
                  </a:tcPr>
                </a:tc>
                <a:extLst>
                  <a:ext uri="{0D108BD9-81ED-4DB2-BD59-A6C34878D82A}">
                    <a16:rowId xmlns:a16="http://schemas.microsoft.com/office/drawing/2014/main" val="3361549250"/>
                  </a:ext>
                </a:extLst>
              </a:tr>
              <a:tr h="564062">
                <a:tc>
                  <a:txBody>
                    <a:bodyPr/>
                    <a:lstStyle/>
                    <a:p>
                      <a:pPr>
                        <a:buNone/>
                      </a:pPr>
                      <a:r>
                        <a:rPr lang="en-IN" sz="1600" b="1"/>
                        <a:t>Phase 3</a:t>
                      </a:r>
                      <a:endParaRPr lang="en-IN" sz="1600"/>
                    </a:p>
                  </a:txBody>
                  <a:tcPr marL="80580" marR="80580" marT="40290" marB="40290" anchor="ctr">
                    <a:lnL>
                      <a:noFill/>
                    </a:lnL>
                    <a:lnR>
                      <a:noFill/>
                    </a:lnR>
                    <a:lnT>
                      <a:noFill/>
                    </a:lnT>
                    <a:lnB>
                      <a:noFill/>
                    </a:lnB>
                    <a:noFill/>
                  </a:tcPr>
                </a:tc>
                <a:tc>
                  <a:txBody>
                    <a:bodyPr/>
                    <a:lstStyle/>
                    <a:p>
                      <a:pPr>
                        <a:buNone/>
                      </a:pPr>
                      <a:r>
                        <a:rPr lang="en-IN" sz="1600"/>
                        <a:t>Weather Data/API Collection &amp; Preprocessing</a:t>
                      </a:r>
                    </a:p>
                  </a:txBody>
                  <a:tcPr marL="80580" marR="80580" marT="40290" marB="40290" anchor="ctr">
                    <a:lnL>
                      <a:noFill/>
                    </a:lnL>
                    <a:lnR>
                      <a:noFill/>
                    </a:lnR>
                    <a:lnT>
                      <a:noFill/>
                    </a:lnT>
                    <a:lnB>
                      <a:noFill/>
                    </a:lnB>
                    <a:noFill/>
                  </a:tcPr>
                </a:tc>
                <a:tc>
                  <a:txBody>
                    <a:bodyPr/>
                    <a:lstStyle/>
                    <a:p>
                      <a:pPr>
                        <a:buNone/>
                      </a:pPr>
                      <a:r>
                        <a:rPr lang="en-IN" sz="1600" b="1"/>
                        <a:t>Aug 28 – Sep 5</a:t>
                      </a:r>
                      <a:endParaRPr lang="en-IN" sz="1600"/>
                    </a:p>
                  </a:txBody>
                  <a:tcPr marL="80580" marR="80580" marT="40290" marB="40290" anchor="ctr">
                    <a:lnL>
                      <a:noFill/>
                    </a:lnL>
                    <a:lnR>
                      <a:noFill/>
                    </a:lnR>
                    <a:lnT>
                      <a:noFill/>
                    </a:lnT>
                    <a:lnB>
                      <a:noFill/>
                    </a:lnB>
                    <a:noFill/>
                  </a:tcPr>
                </a:tc>
                <a:extLst>
                  <a:ext uri="{0D108BD9-81ED-4DB2-BD59-A6C34878D82A}">
                    <a16:rowId xmlns:a16="http://schemas.microsoft.com/office/drawing/2014/main" val="3892723861"/>
                  </a:ext>
                </a:extLst>
              </a:tr>
              <a:tr h="322321">
                <a:tc>
                  <a:txBody>
                    <a:bodyPr/>
                    <a:lstStyle/>
                    <a:p>
                      <a:pPr>
                        <a:buNone/>
                      </a:pPr>
                      <a:r>
                        <a:rPr lang="en-IN" sz="1600" b="1"/>
                        <a:t>Phase 4</a:t>
                      </a:r>
                      <a:endParaRPr lang="en-IN" sz="1600"/>
                    </a:p>
                  </a:txBody>
                  <a:tcPr marL="80580" marR="80580" marT="40290" marB="40290" anchor="ctr">
                    <a:lnL>
                      <a:noFill/>
                    </a:lnL>
                    <a:lnR>
                      <a:noFill/>
                    </a:lnR>
                    <a:lnT>
                      <a:noFill/>
                    </a:lnT>
                    <a:lnB>
                      <a:noFill/>
                    </a:lnB>
                    <a:noFill/>
                  </a:tcPr>
                </a:tc>
                <a:tc>
                  <a:txBody>
                    <a:bodyPr/>
                    <a:lstStyle/>
                    <a:p>
                      <a:pPr>
                        <a:buNone/>
                      </a:pPr>
                      <a:r>
                        <a:rPr lang="en-IN" sz="1600"/>
                        <a:t>AI/ML Weather Prediction Model</a:t>
                      </a:r>
                    </a:p>
                  </a:txBody>
                  <a:tcPr marL="80580" marR="80580" marT="40290" marB="40290" anchor="ctr">
                    <a:lnL>
                      <a:noFill/>
                    </a:lnL>
                    <a:lnR>
                      <a:noFill/>
                    </a:lnR>
                    <a:lnT>
                      <a:noFill/>
                    </a:lnT>
                    <a:lnB>
                      <a:noFill/>
                    </a:lnB>
                    <a:noFill/>
                  </a:tcPr>
                </a:tc>
                <a:tc>
                  <a:txBody>
                    <a:bodyPr/>
                    <a:lstStyle/>
                    <a:p>
                      <a:pPr>
                        <a:buNone/>
                      </a:pPr>
                      <a:r>
                        <a:rPr lang="en-IN" sz="1600" b="1"/>
                        <a:t>Sep 6 – Sep 15</a:t>
                      </a:r>
                      <a:endParaRPr lang="en-IN" sz="1600"/>
                    </a:p>
                  </a:txBody>
                  <a:tcPr marL="80580" marR="80580" marT="40290" marB="40290" anchor="ctr">
                    <a:lnL>
                      <a:noFill/>
                    </a:lnL>
                    <a:lnR>
                      <a:noFill/>
                    </a:lnR>
                    <a:lnT>
                      <a:noFill/>
                    </a:lnT>
                    <a:lnB>
                      <a:noFill/>
                    </a:lnB>
                    <a:noFill/>
                  </a:tcPr>
                </a:tc>
                <a:extLst>
                  <a:ext uri="{0D108BD9-81ED-4DB2-BD59-A6C34878D82A}">
                    <a16:rowId xmlns:a16="http://schemas.microsoft.com/office/drawing/2014/main" val="3667791503"/>
                  </a:ext>
                </a:extLst>
              </a:tr>
              <a:tr h="564062">
                <a:tc>
                  <a:txBody>
                    <a:bodyPr/>
                    <a:lstStyle/>
                    <a:p>
                      <a:pPr>
                        <a:buNone/>
                      </a:pPr>
                      <a:r>
                        <a:rPr lang="en-IN" sz="1600" b="1"/>
                        <a:t>Phase 5</a:t>
                      </a:r>
                      <a:endParaRPr lang="en-IN" sz="1600"/>
                    </a:p>
                  </a:txBody>
                  <a:tcPr marL="80580" marR="80580" marT="40290" marB="40290" anchor="ctr">
                    <a:lnL>
                      <a:noFill/>
                    </a:lnL>
                    <a:lnR>
                      <a:noFill/>
                    </a:lnR>
                    <a:lnT>
                      <a:noFill/>
                    </a:lnT>
                    <a:lnB>
                      <a:noFill/>
                    </a:lnB>
                    <a:noFill/>
                  </a:tcPr>
                </a:tc>
                <a:tc>
                  <a:txBody>
                    <a:bodyPr/>
                    <a:lstStyle/>
                    <a:p>
                      <a:pPr>
                        <a:buNone/>
                      </a:pPr>
                      <a:r>
                        <a:rPr lang="en-IN" sz="1600"/>
                        <a:t>Risk Detection &amp; Advisory Generation</a:t>
                      </a:r>
                    </a:p>
                  </a:txBody>
                  <a:tcPr marL="80580" marR="80580" marT="40290" marB="40290" anchor="ctr">
                    <a:lnL>
                      <a:noFill/>
                    </a:lnL>
                    <a:lnR>
                      <a:noFill/>
                    </a:lnR>
                    <a:lnT>
                      <a:noFill/>
                    </a:lnT>
                    <a:lnB>
                      <a:noFill/>
                    </a:lnB>
                    <a:noFill/>
                  </a:tcPr>
                </a:tc>
                <a:tc>
                  <a:txBody>
                    <a:bodyPr/>
                    <a:lstStyle/>
                    <a:p>
                      <a:pPr>
                        <a:buNone/>
                      </a:pPr>
                      <a:r>
                        <a:rPr lang="en-IN" sz="1600" b="1"/>
                        <a:t>Sep 16 – Sep 22</a:t>
                      </a:r>
                      <a:endParaRPr lang="en-IN" sz="1600"/>
                    </a:p>
                  </a:txBody>
                  <a:tcPr marL="80580" marR="80580" marT="40290" marB="40290" anchor="ctr">
                    <a:lnL>
                      <a:noFill/>
                    </a:lnL>
                    <a:lnR>
                      <a:noFill/>
                    </a:lnR>
                    <a:lnT>
                      <a:noFill/>
                    </a:lnT>
                    <a:lnB>
                      <a:noFill/>
                    </a:lnB>
                    <a:noFill/>
                  </a:tcPr>
                </a:tc>
                <a:extLst>
                  <a:ext uri="{0D108BD9-81ED-4DB2-BD59-A6C34878D82A}">
                    <a16:rowId xmlns:a16="http://schemas.microsoft.com/office/drawing/2014/main" val="3563945406"/>
                  </a:ext>
                </a:extLst>
              </a:tr>
              <a:tr h="322321">
                <a:tc>
                  <a:txBody>
                    <a:bodyPr/>
                    <a:lstStyle/>
                    <a:p>
                      <a:pPr>
                        <a:buNone/>
                      </a:pPr>
                      <a:r>
                        <a:rPr lang="en-IN" sz="1600" b="1"/>
                        <a:t>Phase 6</a:t>
                      </a:r>
                      <a:endParaRPr lang="en-IN" sz="1600"/>
                    </a:p>
                  </a:txBody>
                  <a:tcPr marL="80580" marR="80580" marT="40290" marB="40290" anchor="ctr">
                    <a:lnL>
                      <a:noFill/>
                    </a:lnL>
                    <a:lnR>
                      <a:noFill/>
                    </a:lnR>
                    <a:lnT>
                      <a:noFill/>
                    </a:lnT>
                    <a:lnB>
                      <a:noFill/>
                    </a:lnB>
                    <a:noFill/>
                  </a:tcPr>
                </a:tc>
                <a:tc>
                  <a:txBody>
                    <a:bodyPr/>
                    <a:lstStyle/>
                    <a:p>
                      <a:pPr>
                        <a:buNone/>
                      </a:pPr>
                      <a:r>
                        <a:rPr lang="en-IN" sz="1600"/>
                        <a:t>Agentic AI Module Integration</a:t>
                      </a:r>
                    </a:p>
                  </a:txBody>
                  <a:tcPr marL="80580" marR="80580" marT="40290" marB="40290" anchor="ctr">
                    <a:lnL>
                      <a:noFill/>
                    </a:lnL>
                    <a:lnR>
                      <a:noFill/>
                    </a:lnR>
                    <a:lnT>
                      <a:noFill/>
                    </a:lnT>
                    <a:lnB>
                      <a:noFill/>
                    </a:lnB>
                    <a:noFill/>
                  </a:tcPr>
                </a:tc>
                <a:tc>
                  <a:txBody>
                    <a:bodyPr/>
                    <a:lstStyle/>
                    <a:p>
                      <a:pPr>
                        <a:buNone/>
                      </a:pPr>
                      <a:r>
                        <a:rPr lang="en-IN" sz="1600" b="1"/>
                        <a:t>Sep 23 – Sep 27</a:t>
                      </a:r>
                      <a:endParaRPr lang="en-IN" sz="1600"/>
                    </a:p>
                  </a:txBody>
                  <a:tcPr marL="80580" marR="80580" marT="40290" marB="40290" anchor="ctr">
                    <a:lnL>
                      <a:noFill/>
                    </a:lnL>
                    <a:lnR>
                      <a:noFill/>
                    </a:lnR>
                    <a:lnT>
                      <a:noFill/>
                    </a:lnT>
                    <a:lnB>
                      <a:noFill/>
                    </a:lnB>
                    <a:noFill/>
                  </a:tcPr>
                </a:tc>
                <a:extLst>
                  <a:ext uri="{0D108BD9-81ED-4DB2-BD59-A6C34878D82A}">
                    <a16:rowId xmlns:a16="http://schemas.microsoft.com/office/drawing/2014/main" val="29654019"/>
                  </a:ext>
                </a:extLst>
              </a:tr>
              <a:tr h="564062">
                <a:tc>
                  <a:txBody>
                    <a:bodyPr/>
                    <a:lstStyle/>
                    <a:p>
                      <a:pPr>
                        <a:buNone/>
                      </a:pPr>
                      <a:r>
                        <a:rPr lang="en-IN" sz="1600" b="1"/>
                        <a:t>Phase 7</a:t>
                      </a:r>
                      <a:endParaRPr lang="en-IN" sz="1600"/>
                    </a:p>
                  </a:txBody>
                  <a:tcPr marL="80580" marR="80580" marT="40290" marB="40290" anchor="ctr">
                    <a:lnL>
                      <a:noFill/>
                    </a:lnL>
                    <a:lnR>
                      <a:noFill/>
                    </a:lnR>
                    <a:lnT>
                      <a:noFill/>
                    </a:lnT>
                    <a:lnB>
                      <a:noFill/>
                    </a:lnB>
                    <a:noFill/>
                  </a:tcPr>
                </a:tc>
                <a:tc>
                  <a:txBody>
                    <a:bodyPr/>
                    <a:lstStyle/>
                    <a:p>
                      <a:pPr>
                        <a:buNone/>
                      </a:pPr>
                      <a:r>
                        <a:rPr lang="en-IN" sz="1600"/>
                        <a:t>SOA/API &amp; Dashboard Development</a:t>
                      </a:r>
                    </a:p>
                  </a:txBody>
                  <a:tcPr marL="80580" marR="80580" marT="40290" marB="40290" anchor="ctr">
                    <a:lnL>
                      <a:noFill/>
                    </a:lnL>
                    <a:lnR>
                      <a:noFill/>
                    </a:lnR>
                    <a:lnT>
                      <a:noFill/>
                    </a:lnT>
                    <a:lnB>
                      <a:noFill/>
                    </a:lnB>
                    <a:noFill/>
                  </a:tcPr>
                </a:tc>
                <a:tc>
                  <a:txBody>
                    <a:bodyPr/>
                    <a:lstStyle/>
                    <a:p>
                      <a:pPr>
                        <a:buNone/>
                      </a:pPr>
                      <a:r>
                        <a:rPr lang="en-IN" sz="1600" b="1"/>
                        <a:t>Sep 28 – Oct 4</a:t>
                      </a:r>
                      <a:endParaRPr lang="en-IN" sz="1600"/>
                    </a:p>
                  </a:txBody>
                  <a:tcPr marL="80580" marR="80580" marT="40290" marB="40290" anchor="ctr">
                    <a:lnL>
                      <a:noFill/>
                    </a:lnL>
                    <a:lnR>
                      <a:noFill/>
                    </a:lnR>
                    <a:lnT>
                      <a:noFill/>
                    </a:lnT>
                    <a:lnB>
                      <a:noFill/>
                    </a:lnB>
                    <a:noFill/>
                  </a:tcPr>
                </a:tc>
                <a:extLst>
                  <a:ext uri="{0D108BD9-81ED-4DB2-BD59-A6C34878D82A}">
                    <a16:rowId xmlns:a16="http://schemas.microsoft.com/office/drawing/2014/main" val="1529755455"/>
                  </a:ext>
                </a:extLst>
              </a:tr>
              <a:tr h="564062">
                <a:tc>
                  <a:txBody>
                    <a:bodyPr/>
                    <a:lstStyle/>
                    <a:p>
                      <a:pPr>
                        <a:buNone/>
                      </a:pPr>
                      <a:r>
                        <a:rPr lang="en-IN" sz="1600" b="1"/>
                        <a:t>Phase 8</a:t>
                      </a:r>
                      <a:endParaRPr lang="en-IN" sz="1600"/>
                    </a:p>
                  </a:txBody>
                  <a:tcPr marL="80580" marR="80580" marT="40290" marB="40290" anchor="ctr">
                    <a:lnL>
                      <a:noFill/>
                    </a:lnL>
                    <a:lnR>
                      <a:noFill/>
                    </a:lnR>
                    <a:lnT>
                      <a:noFill/>
                    </a:lnT>
                    <a:lnB>
                      <a:noFill/>
                    </a:lnB>
                    <a:noFill/>
                  </a:tcPr>
                </a:tc>
                <a:tc>
                  <a:txBody>
                    <a:bodyPr/>
                    <a:lstStyle/>
                    <a:p>
                      <a:pPr>
                        <a:buNone/>
                      </a:pPr>
                      <a:r>
                        <a:rPr lang="en-IN" sz="1600"/>
                        <a:t>Testing, Evaluation, Documentation &amp; Final Presentation</a:t>
                      </a:r>
                    </a:p>
                  </a:txBody>
                  <a:tcPr marL="80580" marR="80580" marT="40290" marB="40290" anchor="ctr">
                    <a:lnL>
                      <a:noFill/>
                    </a:lnL>
                    <a:lnR>
                      <a:noFill/>
                    </a:lnR>
                    <a:lnT>
                      <a:noFill/>
                    </a:lnT>
                    <a:lnB>
                      <a:noFill/>
                    </a:lnB>
                    <a:noFill/>
                  </a:tcPr>
                </a:tc>
                <a:tc>
                  <a:txBody>
                    <a:bodyPr/>
                    <a:lstStyle/>
                    <a:p>
                      <a:pPr>
                        <a:buNone/>
                      </a:pPr>
                      <a:r>
                        <a:rPr lang="en-IN" sz="1600" b="1" dirty="0"/>
                        <a:t>Oct 5 – Oct-6</a:t>
                      </a:r>
                      <a:endParaRPr lang="en-IN" sz="1600" dirty="0"/>
                    </a:p>
                  </a:txBody>
                  <a:tcPr marL="80580" marR="80580" marT="40290" marB="40290" anchor="ctr">
                    <a:lnL>
                      <a:noFill/>
                    </a:lnL>
                    <a:lnR>
                      <a:noFill/>
                    </a:lnR>
                    <a:lnT>
                      <a:noFill/>
                    </a:lnT>
                    <a:lnB>
                      <a:noFill/>
                    </a:lnB>
                    <a:noFill/>
                  </a:tcPr>
                </a:tc>
                <a:extLst>
                  <a:ext uri="{0D108BD9-81ED-4DB2-BD59-A6C34878D82A}">
                    <a16:rowId xmlns:a16="http://schemas.microsoft.com/office/drawing/2014/main" val="3828685412"/>
                  </a:ext>
                </a:extLst>
              </a:tr>
            </a:tbl>
          </a:graphicData>
        </a:graphic>
      </p:graphicFrame>
      <p:sp>
        <p:nvSpPr>
          <p:cNvPr id="4" name="Date Placeholder 3">
            <a:extLst>
              <a:ext uri="{FF2B5EF4-FFF2-40B4-BE49-F238E27FC236}">
                <a16:creationId xmlns:a16="http://schemas.microsoft.com/office/drawing/2014/main" id="{3DE71C89-AD95-3C2B-01C1-90B6339ACB2A}"/>
              </a:ext>
            </a:extLst>
          </p:cNvPr>
          <p:cNvSpPr>
            <a:spLocks noGrp="1"/>
          </p:cNvSpPr>
          <p:nvPr>
            <p:ph type="dt" sz="half" idx="10"/>
          </p:nvPr>
        </p:nvSpPr>
        <p:spPr/>
        <p:txBody>
          <a:bodyPr/>
          <a:lstStyle/>
          <a:p>
            <a:fld id="{CF411EB6-9770-43AB-BBCE-044F1DB66B82}" type="datetime3">
              <a:rPr lang="en-US" smtClean="0"/>
              <a:t>26 August 2026</a:t>
            </a:fld>
            <a:endParaRPr lang="en-IN"/>
          </a:p>
        </p:txBody>
      </p:sp>
      <p:sp>
        <p:nvSpPr>
          <p:cNvPr id="5" name="Footer Placeholder 4">
            <a:extLst>
              <a:ext uri="{FF2B5EF4-FFF2-40B4-BE49-F238E27FC236}">
                <a16:creationId xmlns:a16="http://schemas.microsoft.com/office/drawing/2014/main" id="{258DD923-B7D4-64CC-60FE-7D62FF33AA89}"/>
              </a:ext>
            </a:extLst>
          </p:cNvPr>
          <p:cNvSpPr>
            <a:spLocks noGrp="1"/>
          </p:cNvSpPr>
          <p:nvPr>
            <p:ph type="ftr" sz="quarter" idx="11"/>
          </p:nvPr>
        </p:nvSpPr>
        <p:spPr/>
        <p:txBody>
          <a:bodyPr/>
          <a:lstStyle/>
          <a:p>
            <a:r>
              <a:rPr lang="en-IN"/>
              <a:t>Ph.D. Viva Voce</a:t>
            </a:r>
          </a:p>
        </p:txBody>
      </p:sp>
      <p:sp>
        <p:nvSpPr>
          <p:cNvPr id="6" name="Slide Number Placeholder 5">
            <a:extLst>
              <a:ext uri="{FF2B5EF4-FFF2-40B4-BE49-F238E27FC236}">
                <a16:creationId xmlns:a16="http://schemas.microsoft.com/office/drawing/2014/main" id="{6FAA58E7-919A-981B-98CA-E538268A15DF}"/>
              </a:ext>
            </a:extLst>
          </p:cNvPr>
          <p:cNvSpPr>
            <a:spLocks noGrp="1"/>
          </p:cNvSpPr>
          <p:nvPr>
            <p:ph type="sldNum" sz="quarter" idx="12"/>
          </p:nvPr>
        </p:nvSpPr>
        <p:spPr/>
        <p:txBody>
          <a:bodyPr/>
          <a:lstStyle/>
          <a:p>
            <a:fld id="{01AD1135-6E10-4422-AC8B-257B84239C9C}" type="slidenum">
              <a:rPr lang="en-IN" smtClean="0"/>
              <a:t>9</a:t>
            </a:fld>
            <a:endParaRPr lang="en-IN"/>
          </a:p>
        </p:txBody>
      </p:sp>
    </p:spTree>
    <p:extLst>
      <p:ext uri="{BB962C8B-B14F-4D97-AF65-F5344CB8AC3E}">
        <p14:creationId xmlns:p14="http://schemas.microsoft.com/office/powerpoint/2010/main" val="4094927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EF818-3A2D-2BA8-5C8D-76E8E8EFE0A6}"/>
              </a:ext>
            </a:extLst>
          </p:cNvPr>
          <p:cNvSpPr>
            <a:spLocks noGrp="1"/>
          </p:cNvSpPr>
          <p:nvPr>
            <p:ph type="title"/>
          </p:nvPr>
        </p:nvSpPr>
        <p:spPr/>
        <p:txBody>
          <a:bodyPr/>
          <a:lstStyle/>
          <a:p>
            <a:r>
              <a:rPr lang="en-IN" dirty="0"/>
              <a:t>Significance of the Project</a:t>
            </a:r>
          </a:p>
        </p:txBody>
      </p:sp>
      <p:sp>
        <p:nvSpPr>
          <p:cNvPr id="3" name="Content Placeholder 2">
            <a:extLst>
              <a:ext uri="{FF2B5EF4-FFF2-40B4-BE49-F238E27FC236}">
                <a16:creationId xmlns:a16="http://schemas.microsoft.com/office/drawing/2014/main" id="{CAC0B2EE-BCB6-CD4C-3E7E-13EC5960B939}"/>
              </a:ext>
            </a:extLst>
          </p:cNvPr>
          <p:cNvSpPr>
            <a:spLocks noGrp="1"/>
          </p:cNvSpPr>
          <p:nvPr>
            <p:ph idx="1"/>
          </p:nvPr>
        </p:nvSpPr>
        <p:spPr/>
        <p:txBody>
          <a:bodyPr/>
          <a:lstStyle/>
          <a:p>
            <a:pPr lvl="0"/>
            <a:r>
              <a:rPr lang="en-IN" dirty="0"/>
              <a:t>Converts </a:t>
            </a:r>
            <a:r>
              <a:rPr lang="en-IN" b="1" dirty="0"/>
              <a:t>raw weather data into useful and actionable information</a:t>
            </a:r>
            <a:r>
              <a:rPr lang="en-IN" dirty="0"/>
              <a:t>. </a:t>
            </a:r>
          </a:p>
          <a:p>
            <a:pPr lvl="0"/>
            <a:r>
              <a:rPr lang="en-IN" dirty="0"/>
              <a:t>Helps users understand </a:t>
            </a:r>
            <a:r>
              <a:rPr lang="en-IN" b="1" dirty="0"/>
              <a:t>weather risks</a:t>
            </a:r>
            <a:r>
              <a:rPr lang="en-IN" dirty="0"/>
              <a:t> instead of interpreting weather data themselves. </a:t>
            </a:r>
          </a:p>
          <a:p>
            <a:pPr lvl="0"/>
            <a:r>
              <a:rPr lang="en-IN" dirty="0"/>
              <a:t>Provides </a:t>
            </a:r>
            <a:r>
              <a:rPr lang="en-IN" b="1" dirty="0"/>
              <a:t>timely alerts</a:t>
            </a:r>
            <a:r>
              <a:rPr lang="en-IN" dirty="0"/>
              <a:t> during critical weather conditions. </a:t>
            </a:r>
          </a:p>
          <a:p>
            <a:pPr lvl="0"/>
            <a:r>
              <a:rPr lang="en-IN" dirty="0"/>
              <a:t>Uses </a:t>
            </a:r>
            <a:r>
              <a:rPr lang="en-IN" b="1" dirty="0"/>
              <a:t>AI-based advisory</a:t>
            </a:r>
            <a:r>
              <a:rPr lang="en-IN" dirty="0"/>
              <a:t> to provide suitable recommendations. </a:t>
            </a:r>
          </a:p>
          <a:p>
            <a:pPr lvl="0"/>
            <a:r>
              <a:rPr lang="en-IN" dirty="0"/>
              <a:t>Uses </a:t>
            </a:r>
            <a:r>
              <a:rPr lang="en-IN" b="1" dirty="0"/>
              <a:t>SOA</a:t>
            </a:r>
            <a:r>
              <a:rPr lang="en-IN" dirty="0"/>
              <a:t> to make the system </a:t>
            </a:r>
            <a:r>
              <a:rPr lang="en-IN" b="1" dirty="0"/>
              <a:t>scalable, maintainable, reusable, and flexible</a:t>
            </a:r>
            <a:r>
              <a:rPr lang="en-IN" dirty="0"/>
              <a:t>. </a:t>
            </a:r>
          </a:p>
          <a:p>
            <a:endParaRPr lang="en-IN" dirty="0"/>
          </a:p>
        </p:txBody>
      </p:sp>
      <p:sp>
        <p:nvSpPr>
          <p:cNvPr id="4" name="Date Placeholder 3">
            <a:extLst>
              <a:ext uri="{FF2B5EF4-FFF2-40B4-BE49-F238E27FC236}">
                <a16:creationId xmlns:a16="http://schemas.microsoft.com/office/drawing/2014/main" id="{D7D2CD9C-0DFA-52B7-8398-889B3BA14EB1}"/>
              </a:ext>
            </a:extLst>
          </p:cNvPr>
          <p:cNvSpPr>
            <a:spLocks noGrp="1"/>
          </p:cNvSpPr>
          <p:nvPr>
            <p:ph type="dt" sz="half" idx="10"/>
          </p:nvPr>
        </p:nvSpPr>
        <p:spPr/>
        <p:txBody>
          <a:bodyPr/>
          <a:lstStyle/>
          <a:p>
            <a:fld id="{CF411EB6-9770-43AB-BBCE-044F1DB66B82}" type="datetime3">
              <a:rPr lang="en-US" smtClean="0"/>
              <a:t>26 August 2026</a:t>
            </a:fld>
            <a:endParaRPr lang="en-IN"/>
          </a:p>
        </p:txBody>
      </p:sp>
      <p:sp>
        <p:nvSpPr>
          <p:cNvPr id="5" name="Footer Placeholder 4">
            <a:extLst>
              <a:ext uri="{FF2B5EF4-FFF2-40B4-BE49-F238E27FC236}">
                <a16:creationId xmlns:a16="http://schemas.microsoft.com/office/drawing/2014/main" id="{12D5B6E9-5A86-C5D5-6A84-B4EFCA7DADBE}"/>
              </a:ext>
            </a:extLst>
          </p:cNvPr>
          <p:cNvSpPr>
            <a:spLocks noGrp="1"/>
          </p:cNvSpPr>
          <p:nvPr>
            <p:ph type="ftr" sz="quarter" idx="11"/>
          </p:nvPr>
        </p:nvSpPr>
        <p:spPr/>
        <p:txBody>
          <a:bodyPr/>
          <a:lstStyle/>
          <a:p>
            <a:r>
              <a:rPr lang="en-IN"/>
              <a:t>Ph.D. Viva Voce</a:t>
            </a:r>
          </a:p>
        </p:txBody>
      </p:sp>
      <p:sp>
        <p:nvSpPr>
          <p:cNvPr id="6" name="Slide Number Placeholder 5">
            <a:extLst>
              <a:ext uri="{FF2B5EF4-FFF2-40B4-BE49-F238E27FC236}">
                <a16:creationId xmlns:a16="http://schemas.microsoft.com/office/drawing/2014/main" id="{290F1B68-62A2-A687-1049-7CDA5DEA04B3}"/>
              </a:ext>
            </a:extLst>
          </p:cNvPr>
          <p:cNvSpPr>
            <a:spLocks noGrp="1"/>
          </p:cNvSpPr>
          <p:nvPr>
            <p:ph type="sldNum" sz="quarter" idx="12"/>
          </p:nvPr>
        </p:nvSpPr>
        <p:spPr/>
        <p:txBody>
          <a:bodyPr/>
          <a:lstStyle/>
          <a:p>
            <a:fld id="{01AD1135-6E10-4422-AC8B-257B84239C9C}" type="slidenum">
              <a:rPr lang="en-IN" smtClean="0"/>
              <a:t>10</a:t>
            </a:fld>
            <a:endParaRPr lang="en-IN"/>
          </a:p>
        </p:txBody>
      </p:sp>
    </p:spTree>
    <p:extLst>
      <p:ext uri="{BB962C8B-B14F-4D97-AF65-F5344CB8AC3E}">
        <p14:creationId xmlns:p14="http://schemas.microsoft.com/office/powerpoint/2010/main" val="3862899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54AE8-B2FD-9392-60E6-08721F246381}"/>
              </a:ext>
            </a:extLst>
          </p:cNvPr>
          <p:cNvSpPr>
            <a:spLocks noGrp="1"/>
          </p:cNvSpPr>
          <p:nvPr>
            <p:ph type="title"/>
          </p:nvPr>
        </p:nvSpPr>
        <p:spPr/>
        <p:txBody>
          <a:bodyPr/>
          <a:lstStyle/>
          <a:p>
            <a:r>
              <a:rPr lang="en-IN" dirty="0"/>
              <a:t>Relevance to Project Title</a:t>
            </a:r>
          </a:p>
        </p:txBody>
      </p:sp>
      <p:sp>
        <p:nvSpPr>
          <p:cNvPr id="3" name="Content Placeholder 2">
            <a:extLst>
              <a:ext uri="{FF2B5EF4-FFF2-40B4-BE49-F238E27FC236}">
                <a16:creationId xmlns:a16="http://schemas.microsoft.com/office/drawing/2014/main" id="{861E4AD2-EE2F-BF76-A3DF-1665DE7205A1}"/>
              </a:ext>
            </a:extLst>
          </p:cNvPr>
          <p:cNvSpPr>
            <a:spLocks noGrp="1"/>
          </p:cNvSpPr>
          <p:nvPr>
            <p:ph idx="1"/>
          </p:nvPr>
        </p:nvSpPr>
        <p:spPr/>
        <p:txBody>
          <a:bodyPr>
            <a:normAutofit fontScale="92500" lnSpcReduction="20000"/>
          </a:bodyPr>
          <a:lstStyle/>
          <a:p>
            <a:pPr lvl="0"/>
            <a:r>
              <a:rPr lang="en-IN" b="1" dirty="0" err="1"/>
              <a:t>WeatherGuardian</a:t>
            </a:r>
            <a:r>
              <a:rPr lang="en-IN" dirty="0"/>
              <a:t> → Helps users stay aware of potentially dangerous weather conditions. </a:t>
            </a:r>
          </a:p>
          <a:p>
            <a:pPr lvl="0"/>
            <a:r>
              <a:rPr lang="en-IN" b="1" dirty="0"/>
              <a:t>AI</a:t>
            </a:r>
            <a:r>
              <a:rPr lang="en-IN" dirty="0"/>
              <a:t> → Uses an AI-based advisory service to generate intelligent recommendations. </a:t>
            </a:r>
          </a:p>
          <a:p>
            <a:pPr lvl="0"/>
            <a:r>
              <a:rPr lang="en-IN" b="1" dirty="0"/>
              <a:t>Agentic</a:t>
            </a:r>
            <a:r>
              <a:rPr lang="en-IN" dirty="0"/>
              <a:t> → Responds to changing weather conditions and supports adaptive decision-making. </a:t>
            </a:r>
          </a:p>
          <a:p>
            <a:pPr lvl="0"/>
            <a:r>
              <a:rPr lang="en-IN" b="1" dirty="0"/>
              <a:t>Service-Oriented Framework</a:t>
            </a:r>
            <a:r>
              <a:rPr lang="en-IN" dirty="0"/>
              <a:t> → Divides the system into independent and reusable services. </a:t>
            </a:r>
          </a:p>
          <a:p>
            <a:pPr lvl="0"/>
            <a:r>
              <a:rPr lang="en-IN" b="1" dirty="0"/>
              <a:t>Intelligent Weather Advisory</a:t>
            </a:r>
            <a:r>
              <a:rPr lang="en-IN" dirty="0"/>
              <a:t> → Converts </a:t>
            </a:r>
            <a:r>
              <a:rPr lang="en-IN" dirty="0" err="1"/>
              <a:t>analyzed</a:t>
            </a:r>
            <a:r>
              <a:rPr lang="en-IN" dirty="0"/>
              <a:t> weather information into meaningful recommendations. </a:t>
            </a:r>
          </a:p>
          <a:p>
            <a:pPr lvl="0"/>
            <a:r>
              <a:rPr lang="en-IN" b="1" dirty="0"/>
              <a:t>Management</a:t>
            </a:r>
            <a:r>
              <a:rPr lang="en-IN" dirty="0"/>
              <a:t> → Connects weather collection, risk analysis, advisory generation, forecasting, and notifications.</a:t>
            </a:r>
          </a:p>
          <a:p>
            <a:endParaRPr lang="en-IN" dirty="0"/>
          </a:p>
        </p:txBody>
      </p:sp>
      <p:sp>
        <p:nvSpPr>
          <p:cNvPr id="4" name="Date Placeholder 3">
            <a:extLst>
              <a:ext uri="{FF2B5EF4-FFF2-40B4-BE49-F238E27FC236}">
                <a16:creationId xmlns:a16="http://schemas.microsoft.com/office/drawing/2014/main" id="{AB9FA047-802F-E330-AA97-E50E359804D5}"/>
              </a:ext>
            </a:extLst>
          </p:cNvPr>
          <p:cNvSpPr>
            <a:spLocks noGrp="1"/>
          </p:cNvSpPr>
          <p:nvPr>
            <p:ph type="dt" sz="half" idx="10"/>
          </p:nvPr>
        </p:nvSpPr>
        <p:spPr/>
        <p:txBody>
          <a:bodyPr/>
          <a:lstStyle/>
          <a:p>
            <a:fld id="{CF411EB6-9770-43AB-BBCE-044F1DB66B82}" type="datetime3">
              <a:rPr lang="en-US" smtClean="0"/>
              <a:t>26 August 2026</a:t>
            </a:fld>
            <a:endParaRPr lang="en-IN"/>
          </a:p>
        </p:txBody>
      </p:sp>
      <p:sp>
        <p:nvSpPr>
          <p:cNvPr id="5" name="Footer Placeholder 4">
            <a:extLst>
              <a:ext uri="{FF2B5EF4-FFF2-40B4-BE49-F238E27FC236}">
                <a16:creationId xmlns:a16="http://schemas.microsoft.com/office/drawing/2014/main" id="{03534017-9C30-18F7-D997-553345ACD29E}"/>
              </a:ext>
            </a:extLst>
          </p:cNvPr>
          <p:cNvSpPr>
            <a:spLocks noGrp="1"/>
          </p:cNvSpPr>
          <p:nvPr>
            <p:ph type="ftr" sz="quarter" idx="11"/>
          </p:nvPr>
        </p:nvSpPr>
        <p:spPr/>
        <p:txBody>
          <a:bodyPr/>
          <a:lstStyle/>
          <a:p>
            <a:r>
              <a:rPr lang="en-IN"/>
              <a:t>Ph.D. Viva Voce</a:t>
            </a:r>
          </a:p>
        </p:txBody>
      </p:sp>
      <p:sp>
        <p:nvSpPr>
          <p:cNvPr id="6" name="Slide Number Placeholder 5">
            <a:extLst>
              <a:ext uri="{FF2B5EF4-FFF2-40B4-BE49-F238E27FC236}">
                <a16:creationId xmlns:a16="http://schemas.microsoft.com/office/drawing/2014/main" id="{AA0E4C4C-A56F-C094-2C40-BA4AC628BB36}"/>
              </a:ext>
            </a:extLst>
          </p:cNvPr>
          <p:cNvSpPr>
            <a:spLocks noGrp="1"/>
          </p:cNvSpPr>
          <p:nvPr>
            <p:ph type="sldNum" sz="quarter" idx="12"/>
          </p:nvPr>
        </p:nvSpPr>
        <p:spPr/>
        <p:txBody>
          <a:bodyPr/>
          <a:lstStyle/>
          <a:p>
            <a:fld id="{01AD1135-6E10-4422-AC8B-257B84239C9C}" type="slidenum">
              <a:rPr lang="en-IN" smtClean="0"/>
              <a:t>11</a:t>
            </a:fld>
            <a:endParaRPr lang="en-IN"/>
          </a:p>
        </p:txBody>
      </p:sp>
    </p:spTree>
    <p:extLst>
      <p:ext uri="{BB962C8B-B14F-4D97-AF65-F5344CB8AC3E}">
        <p14:creationId xmlns:p14="http://schemas.microsoft.com/office/powerpoint/2010/main" val="1753542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33D03-C041-F025-3F25-5BE009815DA1}"/>
              </a:ext>
            </a:extLst>
          </p:cNvPr>
          <p:cNvSpPr>
            <a:spLocks noGrp="1"/>
          </p:cNvSpPr>
          <p:nvPr>
            <p:ph type="title"/>
          </p:nvPr>
        </p:nvSpPr>
        <p:spPr/>
        <p:txBody>
          <a:bodyPr/>
          <a:lstStyle/>
          <a:p>
            <a:r>
              <a:rPr lang="en-IN" dirty="0"/>
              <a:t>Depth and Quality of Literature Review</a:t>
            </a:r>
          </a:p>
        </p:txBody>
      </p:sp>
      <p:sp>
        <p:nvSpPr>
          <p:cNvPr id="3" name="Content Placeholder 2">
            <a:extLst>
              <a:ext uri="{FF2B5EF4-FFF2-40B4-BE49-F238E27FC236}">
                <a16:creationId xmlns:a16="http://schemas.microsoft.com/office/drawing/2014/main" id="{FD2559FE-32E5-6752-19A0-DB82B79C27F6}"/>
              </a:ext>
            </a:extLst>
          </p:cNvPr>
          <p:cNvSpPr>
            <a:spLocks noGrp="1"/>
          </p:cNvSpPr>
          <p:nvPr>
            <p:ph idx="1"/>
          </p:nvPr>
        </p:nvSpPr>
        <p:spPr/>
        <p:txBody>
          <a:bodyPr>
            <a:normAutofit fontScale="47500" lnSpcReduction="20000"/>
          </a:bodyPr>
          <a:lstStyle/>
          <a:p>
            <a:r>
              <a:rPr lang="en-IN" b="1" dirty="0"/>
              <a:t>1. AI-Based Weather Forecasting</a:t>
            </a:r>
          </a:p>
          <a:p>
            <a:r>
              <a:rPr lang="en-IN" b="1" dirty="0"/>
              <a:t>Vaughan et al. – Aardvark Weather (2024)</a:t>
            </a:r>
            <a:endParaRPr lang="en-IN" dirty="0"/>
          </a:p>
          <a:p>
            <a:pPr lvl="0"/>
            <a:r>
              <a:rPr lang="en-IN" dirty="0"/>
              <a:t>Uses an end-to-end machine learning approach. </a:t>
            </a:r>
          </a:p>
          <a:p>
            <a:pPr lvl="0"/>
            <a:r>
              <a:rPr lang="en-IN" dirty="0"/>
              <a:t>Uses raw weather observations. </a:t>
            </a:r>
          </a:p>
          <a:p>
            <a:pPr lvl="0"/>
            <a:r>
              <a:rPr lang="en-IN" dirty="0"/>
              <a:t>Demonstrates fast and affordable weather forecasting. </a:t>
            </a:r>
          </a:p>
          <a:p>
            <a:pPr lvl="0"/>
            <a:r>
              <a:rPr lang="en-IN" dirty="0"/>
              <a:t>Suggests future integration with personalized weather services and decision-support systems. </a:t>
            </a:r>
          </a:p>
          <a:p>
            <a:pPr marL="0" indent="0">
              <a:buNone/>
            </a:pPr>
            <a:r>
              <a:rPr lang="en-IN" b="1" dirty="0"/>
              <a:t>2. Explainable AI</a:t>
            </a:r>
          </a:p>
          <a:p>
            <a:r>
              <a:rPr lang="en-IN" b="1" dirty="0"/>
              <a:t>Kim et al. – Explainable AI-Based Interface System (2025)</a:t>
            </a:r>
            <a:endParaRPr lang="en-IN" dirty="0"/>
          </a:p>
          <a:p>
            <a:pPr lvl="0"/>
            <a:r>
              <a:rPr lang="en-IN" dirty="0"/>
              <a:t>Uses Explainable AI for weather forecasting. </a:t>
            </a:r>
          </a:p>
          <a:p>
            <a:pPr lvl="0"/>
            <a:r>
              <a:rPr lang="en-IN" dirty="0"/>
              <a:t>Helps users understand predictions and confidence. </a:t>
            </a:r>
          </a:p>
          <a:p>
            <a:pPr lvl="0"/>
            <a:r>
              <a:rPr lang="en-IN" dirty="0"/>
              <a:t>Shows that explanations can improve user trust and decision-making. </a:t>
            </a:r>
          </a:p>
          <a:p>
            <a:pPr marL="0" indent="0">
              <a:buNone/>
            </a:pPr>
            <a:r>
              <a:rPr lang="en-IN" b="1" dirty="0"/>
              <a:t>3. Service-Oriented Architecture</a:t>
            </a:r>
          </a:p>
          <a:p>
            <a:r>
              <a:rPr lang="en-IN" b="1" dirty="0"/>
              <a:t>Shi et al. – SOA for Ensemble Flood Forecast (2015)</a:t>
            </a:r>
            <a:endParaRPr lang="en-IN" dirty="0"/>
          </a:p>
          <a:p>
            <a:pPr lvl="0"/>
            <a:r>
              <a:rPr lang="en-IN" dirty="0"/>
              <a:t>Uses SOA for weather-based flood forecasting. </a:t>
            </a:r>
          </a:p>
          <a:p>
            <a:pPr lvl="0"/>
            <a:r>
              <a:rPr lang="en-IN" dirty="0"/>
              <a:t>Integrates weather prediction, cloud computing, and web services. </a:t>
            </a:r>
          </a:p>
          <a:p>
            <a:pPr lvl="0"/>
            <a:r>
              <a:rPr lang="en-IN" dirty="0"/>
              <a:t>Demonstrates that SOA can support scalable weather-related decision systems</a:t>
            </a:r>
          </a:p>
          <a:p>
            <a:endParaRPr lang="en-IN" dirty="0"/>
          </a:p>
        </p:txBody>
      </p:sp>
      <p:sp>
        <p:nvSpPr>
          <p:cNvPr id="4" name="Date Placeholder 3">
            <a:extLst>
              <a:ext uri="{FF2B5EF4-FFF2-40B4-BE49-F238E27FC236}">
                <a16:creationId xmlns:a16="http://schemas.microsoft.com/office/drawing/2014/main" id="{98CB7172-5C29-1D02-1DFF-4D0BBEA22272}"/>
              </a:ext>
            </a:extLst>
          </p:cNvPr>
          <p:cNvSpPr>
            <a:spLocks noGrp="1"/>
          </p:cNvSpPr>
          <p:nvPr>
            <p:ph type="dt" sz="half" idx="10"/>
          </p:nvPr>
        </p:nvSpPr>
        <p:spPr/>
        <p:txBody>
          <a:bodyPr/>
          <a:lstStyle/>
          <a:p>
            <a:fld id="{CF411EB6-9770-43AB-BBCE-044F1DB66B82}" type="datetime3">
              <a:rPr lang="en-US" smtClean="0"/>
              <a:t>26 August 2026</a:t>
            </a:fld>
            <a:endParaRPr lang="en-IN"/>
          </a:p>
        </p:txBody>
      </p:sp>
      <p:sp>
        <p:nvSpPr>
          <p:cNvPr id="5" name="Footer Placeholder 4">
            <a:extLst>
              <a:ext uri="{FF2B5EF4-FFF2-40B4-BE49-F238E27FC236}">
                <a16:creationId xmlns:a16="http://schemas.microsoft.com/office/drawing/2014/main" id="{EA82B79D-A5B8-D9D9-47EB-931276C41065}"/>
              </a:ext>
            </a:extLst>
          </p:cNvPr>
          <p:cNvSpPr>
            <a:spLocks noGrp="1"/>
          </p:cNvSpPr>
          <p:nvPr>
            <p:ph type="ftr" sz="quarter" idx="11"/>
          </p:nvPr>
        </p:nvSpPr>
        <p:spPr/>
        <p:txBody>
          <a:bodyPr/>
          <a:lstStyle/>
          <a:p>
            <a:r>
              <a:rPr lang="en-IN"/>
              <a:t>Ph.D. Viva Voce</a:t>
            </a:r>
          </a:p>
        </p:txBody>
      </p:sp>
      <p:sp>
        <p:nvSpPr>
          <p:cNvPr id="6" name="Slide Number Placeholder 5">
            <a:extLst>
              <a:ext uri="{FF2B5EF4-FFF2-40B4-BE49-F238E27FC236}">
                <a16:creationId xmlns:a16="http://schemas.microsoft.com/office/drawing/2014/main" id="{07312DE9-BAA9-31EB-F206-ADB54930C1C9}"/>
              </a:ext>
            </a:extLst>
          </p:cNvPr>
          <p:cNvSpPr>
            <a:spLocks noGrp="1"/>
          </p:cNvSpPr>
          <p:nvPr>
            <p:ph type="sldNum" sz="quarter" idx="12"/>
          </p:nvPr>
        </p:nvSpPr>
        <p:spPr/>
        <p:txBody>
          <a:bodyPr/>
          <a:lstStyle/>
          <a:p>
            <a:fld id="{01AD1135-6E10-4422-AC8B-257B84239C9C}" type="slidenum">
              <a:rPr lang="en-IN" smtClean="0"/>
              <a:t>12</a:t>
            </a:fld>
            <a:endParaRPr lang="en-IN"/>
          </a:p>
        </p:txBody>
      </p:sp>
    </p:spTree>
    <p:extLst>
      <p:ext uri="{BB962C8B-B14F-4D97-AF65-F5344CB8AC3E}">
        <p14:creationId xmlns:p14="http://schemas.microsoft.com/office/powerpoint/2010/main" val="1206700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DBAA6-352F-B07C-545B-1D7B87252026}"/>
              </a:ext>
            </a:extLst>
          </p:cNvPr>
          <p:cNvSpPr>
            <a:spLocks noGrp="1"/>
          </p:cNvSpPr>
          <p:nvPr>
            <p:ph type="title"/>
          </p:nvPr>
        </p:nvSpPr>
        <p:spPr/>
        <p:txBody>
          <a:bodyPr/>
          <a:lstStyle/>
          <a:p>
            <a:r>
              <a:rPr lang="en-IN" dirty="0"/>
              <a:t>Critical Analysis and Synthesis of Literature</a:t>
            </a:r>
          </a:p>
        </p:txBody>
      </p:sp>
      <p:graphicFrame>
        <p:nvGraphicFramePr>
          <p:cNvPr id="7" name="Content Placeholder 6">
            <a:extLst>
              <a:ext uri="{FF2B5EF4-FFF2-40B4-BE49-F238E27FC236}">
                <a16:creationId xmlns:a16="http://schemas.microsoft.com/office/drawing/2014/main" id="{FB6D05E6-934D-594B-2994-DCEBE33F6F20}"/>
              </a:ext>
            </a:extLst>
          </p:cNvPr>
          <p:cNvGraphicFramePr>
            <a:graphicFrameLocks noGrp="1"/>
          </p:cNvGraphicFramePr>
          <p:nvPr>
            <p:ph idx="1"/>
            <p:extLst>
              <p:ext uri="{D42A27DB-BD31-4B8C-83A1-F6EECF244321}">
                <p14:modId xmlns:p14="http://schemas.microsoft.com/office/powerpoint/2010/main" val="1107405817"/>
              </p:ext>
            </p:extLst>
          </p:nvPr>
        </p:nvGraphicFramePr>
        <p:xfrm>
          <a:off x="838200" y="1799303"/>
          <a:ext cx="10515600" cy="3814916"/>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726387568"/>
                    </a:ext>
                  </a:extLst>
                </a:gridCol>
                <a:gridCol w="3505200">
                  <a:extLst>
                    <a:ext uri="{9D8B030D-6E8A-4147-A177-3AD203B41FA5}">
                      <a16:colId xmlns:a16="http://schemas.microsoft.com/office/drawing/2014/main" val="3653939888"/>
                    </a:ext>
                  </a:extLst>
                </a:gridCol>
                <a:gridCol w="3505200">
                  <a:extLst>
                    <a:ext uri="{9D8B030D-6E8A-4147-A177-3AD203B41FA5}">
                      <a16:colId xmlns:a16="http://schemas.microsoft.com/office/drawing/2014/main" val="3475992390"/>
                    </a:ext>
                  </a:extLst>
                </a:gridCol>
              </a:tblGrid>
              <a:tr h="544988">
                <a:tc>
                  <a:txBody>
                    <a:bodyPr/>
                    <a:lstStyle/>
                    <a:p>
                      <a:pPr>
                        <a:buNone/>
                      </a:pPr>
                      <a:r>
                        <a:rPr lang="en-IN"/>
                        <a:t>Existing Research</a:t>
                      </a:r>
                    </a:p>
                  </a:txBody>
                  <a:tcPr anchor="ctr"/>
                </a:tc>
                <a:tc>
                  <a:txBody>
                    <a:bodyPr/>
                    <a:lstStyle/>
                    <a:p>
                      <a:pPr>
                        <a:buNone/>
                      </a:pPr>
                      <a:r>
                        <a:rPr lang="en-IN"/>
                        <a:t>Strength</a:t>
                      </a:r>
                    </a:p>
                  </a:txBody>
                  <a:tcPr anchor="ctr"/>
                </a:tc>
                <a:tc>
                  <a:txBody>
                    <a:bodyPr/>
                    <a:lstStyle/>
                    <a:p>
                      <a:pPr>
                        <a:buNone/>
                      </a:pPr>
                      <a:r>
                        <a:rPr lang="en-IN"/>
                        <a:t>Limitation</a:t>
                      </a:r>
                    </a:p>
                  </a:txBody>
                  <a:tcPr anchor="ctr"/>
                </a:tc>
                <a:extLst>
                  <a:ext uri="{0D108BD9-81ED-4DB2-BD59-A6C34878D82A}">
                    <a16:rowId xmlns:a16="http://schemas.microsoft.com/office/drawing/2014/main" val="3762083024"/>
                  </a:ext>
                </a:extLst>
              </a:tr>
              <a:tr h="1362470">
                <a:tc>
                  <a:txBody>
                    <a:bodyPr/>
                    <a:lstStyle/>
                    <a:p>
                      <a:pPr>
                        <a:buNone/>
                      </a:pPr>
                      <a:r>
                        <a:rPr lang="en-IN"/>
                        <a:t>Aardvark Weather</a:t>
                      </a:r>
                    </a:p>
                  </a:txBody>
                  <a:tcPr anchor="ctr"/>
                </a:tc>
                <a:tc>
                  <a:txBody>
                    <a:bodyPr/>
                    <a:lstStyle/>
                    <a:p>
                      <a:pPr>
                        <a:buNone/>
                      </a:pPr>
                      <a:r>
                        <a:rPr lang="en-IN"/>
                        <a:t>Efficient AI-based weather forecasting</a:t>
                      </a:r>
                    </a:p>
                  </a:txBody>
                  <a:tcPr anchor="ctr"/>
                </a:tc>
                <a:tc>
                  <a:txBody>
                    <a:bodyPr/>
                    <a:lstStyle/>
                    <a:p>
                      <a:pPr>
                        <a:buNone/>
                      </a:pPr>
                      <a:r>
                        <a:rPr lang="en-IN"/>
                        <a:t>Needs further validation for different regions and extreme weather</a:t>
                      </a:r>
                    </a:p>
                  </a:txBody>
                  <a:tcPr anchor="ctr"/>
                </a:tc>
                <a:extLst>
                  <a:ext uri="{0D108BD9-81ED-4DB2-BD59-A6C34878D82A}">
                    <a16:rowId xmlns:a16="http://schemas.microsoft.com/office/drawing/2014/main" val="3307536298"/>
                  </a:ext>
                </a:extLst>
              </a:tr>
              <a:tr h="953729">
                <a:tc>
                  <a:txBody>
                    <a:bodyPr/>
                    <a:lstStyle/>
                    <a:p>
                      <a:pPr>
                        <a:buNone/>
                      </a:pPr>
                      <a:r>
                        <a:rPr lang="en-IN"/>
                        <a:t>Explainable AI Weather System</a:t>
                      </a:r>
                    </a:p>
                  </a:txBody>
                  <a:tcPr anchor="ctr"/>
                </a:tc>
                <a:tc>
                  <a:txBody>
                    <a:bodyPr/>
                    <a:lstStyle/>
                    <a:p>
                      <a:pPr>
                        <a:buNone/>
                      </a:pPr>
                      <a:r>
                        <a:rPr lang="en-IN"/>
                        <a:t>Improves user understanding and trust</a:t>
                      </a:r>
                    </a:p>
                  </a:txBody>
                  <a:tcPr anchor="ctr"/>
                </a:tc>
                <a:tc>
                  <a:txBody>
                    <a:bodyPr/>
                    <a:lstStyle/>
                    <a:p>
                      <a:pPr>
                        <a:buNone/>
                      </a:pPr>
                      <a:r>
                        <a:rPr lang="en-IN"/>
                        <a:t>Mainly focuses on explaining predictions</a:t>
                      </a:r>
                    </a:p>
                  </a:txBody>
                  <a:tcPr anchor="ctr"/>
                </a:tc>
                <a:extLst>
                  <a:ext uri="{0D108BD9-81ED-4DB2-BD59-A6C34878D82A}">
                    <a16:rowId xmlns:a16="http://schemas.microsoft.com/office/drawing/2014/main" val="519972323"/>
                  </a:ext>
                </a:extLst>
              </a:tr>
              <a:tr h="953729">
                <a:tc>
                  <a:txBody>
                    <a:bodyPr/>
                    <a:lstStyle/>
                    <a:p>
                      <a:pPr>
                        <a:buNone/>
                      </a:pPr>
                      <a:r>
                        <a:rPr lang="en-IN"/>
                        <a:t>SOA Flood Forecasting</a:t>
                      </a:r>
                    </a:p>
                  </a:txBody>
                  <a:tcPr anchor="ctr"/>
                </a:tc>
                <a:tc>
                  <a:txBody>
                    <a:bodyPr/>
                    <a:lstStyle/>
                    <a:p>
                      <a:pPr>
                        <a:buNone/>
                      </a:pPr>
                      <a:r>
                        <a:rPr lang="en-IN"/>
                        <a:t>Shows effective use of SOA in weather applications</a:t>
                      </a:r>
                    </a:p>
                  </a:txBody>
                  <a:tcPr anchor="ctr"/>
                </a:tc>
                <a:tc>
                  <a:txBody>
                    <a:bodyPr/>
                    <a:lstStyle/>
                    <a:p>
                      <a:pPr>
                        <a:buNone/>
                      </a:pPr>
                      <a:r>
                        <a:rPr lang="en-IN" dirty="0"/>
                        <a:t>Mainly focused on flood forecasting</a:t>
                      </a:r>
                    </a:p>
                  </a:txBody>
                  <a:tcPr anchor="ctr"/>
                </a:tc>
                <a:extLst>
                  <a:ext uri="{0D108BD9-81ED-4DB2-BD59-A6C34878D82A}">
                    <a16:rowId xmlns:a16="http://schemas.microsoft.com/office/drawing/2014/main" val="371646336"/>
                  </a:ext>
                </a:extLst>
              </a:tr>
            </a:tbl>
          </a:graphicData>
        </a:graphic>
      </p:graphicFrame>
      <p:sp>
        <p:nvSpPr>
          <p:cNvPr id="4" name="Date Placeholder 3">
            <a:extLst>
              <a:ext uri="{FF2B5EF4-FFF2-40B4-BE49-F238E27FC236}">
                <a16:creationId xmlns:a16="http://schemas.microsoft.com/office/drawing/2014/main" id="{A4D63DE3-4DD9-8B6D-D16D-F7EE5C4F3CE7}"/>
              </a:ext>
            </a:extLst>
          </p:cNvPr>
          <p:cNvSpPr>
            <a:spLocks noGrp="1"/>
          </p:cNvSpPr>
          <p:nvPr>
            <p:ph type="dt" sz="half" idx="10"/>
          </p:nvPr>
        </p:nvSpPr>
        <p:spPr/>
        <p:txBody>
          <a:bodyPr/>
          <a:lstStyle/>
          <a:p>
            <a:fld id="{CF411EB6-9770-43AB-BBCE-044F1DB66B82}" type="datetime3">
              <a:rPr lang="en-US" smtClean="0"/>
              <a:t>26 August 2026</a:t>
            </a:fld>
            <a:endParaRPr lang="en-IN"/>
          </a:p>
        </p:txBody>
      </p:sp>
      <p:sp>
        <p:nvSpPr>
          <p:cNvPr id="5" name="Footer Placeholder 4">
            <a:extLst>
              <a:ext uri="{FF2B5EF4-FFF2-40B4-BE49-F238E27FC236}">
                <a16:creationId xmlns:a16="http://schemas.microsoft.com/office/drawing/2014/main" id="{94EE75B6-824A-B005-3FEF-79FDDA15D30A}"/>
              </a:ext>
            </a:extLst>
          </p:cNvPr>
          <p:cNvSpPr>
            <a:spLocks noGrp="1"/>
          </p:cNvSpPr>
          <p:nvPr>
            <p:ph type="ftr" sz="quarter" idx="11"/>
          </p:nvPr>
        </p:nvSpPr>
        <p:spPr/>
        <p:txBody>
          <a:bodyPr/>
          <a:lstStyle/>
          <a:p>
            <a:r>
              <a:rPr lang="en-IN"/>
              <a:t>Ph.D. Viva Voce</a:t>
            </a:r>
          </a:p>
        </p:txBody>
      </p:sp>
      <p:sp>
        <p:nvSpPr>
          <p:cNvPr id="6" name="Slide Number Placeholder 5">
            <a:extLst>
              <a:ext uri="{FF2B5EF4-FFF2-40B4-BE49-F238E27FC236}">
                <a16:creationId xmlns:a16="http://schemas.microsoft.com/office/drawing/2014/main" id="{EB080870-27A3-E227-5869-6700E69B2630}"/>
              </a:ext>
            </a:extLst>
          </p:cNvPr>
          <p:cNvSpPr>
            <a:spLocks noGrp="1"/>
          </p:cNvSpPr>
          <p:nvPr>
            <p:ph type="sldNum" sz="quarter" idx="12"/>
          </p:nvPr>
        </p:nvSpPr>
        <p:spPr/>
        <p:txBody>
          <a:bodyPr/>
          <a:lstStyle/>
          <a:p>
            <a:fld id="{01AD1135-6E10-4422-AC8B-257B84239C9C}" type="slidenum">
              <a:rPr lang="en-IN" smtClean="0"/>
              <a:t>13</a:t>
            </a:fld>
            <a:endParaRPr lang="en-IN"/>
          </a:p>
        </p:txBody>
      </p:sp>
    </p:spTree>
    <p:extLst>
      <p:ext uri="{BB962C8B-B14F-4D97-AF65-F5344CB8AC3E}">
        <p14:creationId xmlns:p14="http://schemas.microsoft.com/office/powerpoint/2010/main" val="3011162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A57AE-71EA-6E58-784A-2D8D32694D8C}"/>
              </a:ext>
            </a:extLst>
          </p:cNvPr>
          <p:cNvSpPr>
            <a:spLocks noGrp="1"/>
          </p:cNvSpPr>
          <p:nvPr>
            <p:ph type="title"/>
          </p:nvPr>
        </p:nvSpPr>
        <p:spPr/>
        <p:txBody>
          <a:bodyPr/>
          <a:lstStyle/>
          <a:p>
            <a:r>
              <a:rPr lang="en-IN" dirty="0"/>
              <a:t>Gap Analysis Through Literature Review</a:t>
            </a:r>
          </a:p>
        </p:txBody>
      </p:sp>
      <p:sp>
        <p:nvSpPr>
          <p:cNvPr id="3" name="Content Placeholder 2">
            <a:extLst>
              <a:ext uri="{FF2B5EF4-FFF2-40B4-BE49-F238E27FC236}">
                <a16:creationId xmlns:a16="http://schemas.microsoft.com/office/drawing/2014/main" id="{92D06F7B-6518-B69E-CD3A-4753A41BB93F}"/>
              </a:ext>
            </a:extLst>
          </p:cNvPr>
          <p:cNvSpPr>
            <a:spLocks noGrp="1"/>
          </p:cNvSpPr>
          <p:nvPr>
            <p:ph idx="1"/>
          </p:nvPr>
        </p:nvSpPr>
        <p:spPr/>
        <p:txBody>
          <a:bodyPr>
            <a:normAutofit fontScale="70000" lnSpcReduction="20000"/>
          </a:bodyPr>
          <a:lstStyle/>
          <a:p>
            <a:r>
              <a:rPr lang="en-IN" b="1" dirty="0"/>
              <a:t>Gap 1 — Prediction vs Advisory</a:t>
            </a:r>
          </a:p>
          <a:p>
            <a:r>
              <a:rPr lang="en-IN" dirty="0"/>
              <a:t>Existing systems mainly focus on </a:t>
            </a:r>
            <a:r>
              <a:rPr lang="en-IN" b="1" dirty="0"/>
              <a:t>predicting weather</a:t>
            </a:r>
            <a:r>
              <a:rPr lang="en-IN" dirty="0"/>
              <a:t>, rather than telling users </a:t>
            </a:r>
            <a:r>
              <a:rPr lang="en-IN" b="1" dirty="0"/>
              <a:t>what they should do</a:t>
            </a:r>
            <a:r>
              <a:rPr lang="en-IN" dirty="0"/>
              <a:t>.</a:t>
            </a:r>
          </a:p>
          <a:p>
            <a:r>
              <a:rPr lang="en-IN" b="1" dirty="0"/>
              <a:t>Gap 2 — Personalization</a:t>
            </a:r>
          </a:p>
          <a:p>
            <a:r>
              <a:rPr lang="en-IN" dirty="0"/>
              <a:t>There is limited focus on providing </a:t>
            </a:r>
            <a:r>
              <a:rPr lang="en-IN" b="1" dirty="0"/>
              <a:t>personalized recommendations</a:t>
            </a:r>
            <a:r>
              <a:rPr lang="en-IN" dirty="0"/>
              <a:t> based on user location and weather conditions.</a:t>
            </a:r>
          </a:p>
          <a:p>
            <a:r>
              <a:rPr lang="en-IN" b="1" dirty="0"/>
              <a:t>Gap 3 — Agentic AI</a:t>
            </a:r>
          </a:p>
          <a:p>
            <a:r>
              <a:rPr lang="en-IN" dirty="0"/>
              <a:t>There is limited use of </a:t>
            </a:r>
            <a:r>
              <a:rPr lang="en-IN" b="1" dirty="0"/>
              <a:t>agentic AI for automatic risk analysis and decision-making</a:t>
            </a:r>
            <a:r>
              <a:rPr lang="en-IN" dirty="0"/>
              <a:t>.</a:t>
            </a:r>
          </a:p>
          <a:p>
            <a:r>
              <a:rPr lang="en-IN" b="1" dirty="0"/>
              <a:t>Gap 4 — Integration</a:t>
            </a:r>
          </a:p>
          <a:p>
            <a:r>
              <a:rPr lang="en-IN" dirty="0"/>
              <a:t>Weather prediction, alerts, and user communication are often handled as </a:t>
            </a:r>
            <a:r>
              <a:rPr lang="en-IN" b="1" dirty="0"/>
              <a:t>separate functions</a:t>
            </a:r>
            <a:r>
              <a:rPr lang="en-IN" dirty="0"/>
              <a:t>.</a:t>
            </a:r>
          </a:p>
          <a:p>
            <a:r>
              <a:rPr lang="en-IN" b="1" dirty="0"/>
              <a:t>Gap 5 — Actionable Information</a:t>
            </a:r>
          </a:p>
          <a:p>
            <a:r>
              <a:rPr lang="en-IN" dirty="0"/>
              <a:t>There is a need for an integrated system that provides:</a:t>
            </a:r>
          </a:p>
          <a:p>
            <a:r>
              <a:rPr lang="en-IN" b="1" dirty="0"/>
              <a:t>Real-time + Explainable + Actionable Weather Advisories</a:t>
            </a:r>
            <a:endParaRPr lang="en-IN" dirty="0"/>
          </a:p>
          <a:p>
            <a:endParaRPr lang="en-IN" dirty="0"/>
          </a:p>
        </p:txBody>
      </p:sp>
      <p:sp>
        <p:nvSpPr>
          <p:cNvPr id="4" name="Date Placeholder 3">
            <a:extLst>
              <a:ext uri="{FF2B5EF4-FFF2-40B4-BE49-F238E27FC236}">
                <a16:creationId xmlns:a16="http://schemas.microsoft.com/office/drawing/2014/main" id="{2E58C59B-F64D-9026-C092-C757A0775970}"/>
              </a:ext>
            </a:extLst>
          </p:cNvPr>
          <p:cNvSpPr>
            <a:spLocks noGrp="1"/>
          </p:cNvSpPr>
          <p:nvPr>
            <p:ph type="dt" sz="half" idx="10"/>
          </p:nvPr>
        </p:nvSpPr>
        <p:spPr/>
        <p:txBody>
          <a:bodyPr/>
          <a:lstStyle/>
          <a:p>
            <a:fld id="{CF411EB6-9770-43AB-BBCE-044F1DB66B82}" type="datetime3">
              <a:rPr lang="en-US" smtClean="0"/>
              <a:t>26 August 2026</a:t>
            </a:fld>
            <a:endParaRPr lang="en-IN"/>
          </a:p>
        </p:txBody>
      </p:sp>
      <p:sp>
        <p:nvSpPr>
          <p:cNvPr id="5" name="Footer Placeholder 4">
            <a:extLst>
              <a:ext uri="{FF2B5EF4-FFF2-40B4-BE49-F238E27FC236}">
                <a16:creationId xmlns:a16="http://schemas.microsoft.com/office/drawing/2014/main" id="{37366CB1-B568-DBEE-75A5-765446E0E2D7}"/>
              </a:ext>
            </a:extLst>
          </p:cNvPr>
          <p:cNvSpPr>
            <a:spLocks noGrp="1"/>
          </p:cNvSpPr>
          <p:nvPr>
            <p:ph type="ftr" sz="quarter" idx="11"/>
          </p:nvPr>
        </p:nvSpPr>
        <p:spPr/>
        <p:txBody>
          <a:bodyPr/>
          <a:lstStyle/>
          <a:p>
            <a:r>
              <a:rPr lang="en-IN"/>
              <a:t>Ph.D. Viva Voce</a:t>
            </a:r>
          </a:p>
        </p:txBody>
      </p:sp>
      <p:sp>
        <p:nvSpPr>
          <p:cNvPr id="6" name="Slide Number Placeholder 5">
            <a:extLst>
              <a:ext uri="{FF2B5EF4-FFF2-40B4-BE49-F238E27FC236}">
                <a16:creationId xmlns:a16="http://schemas.microsoft.com/office/drawing/2014/main" id="{72A61C80-9AA4-8FB1-519D-95C051FBABD7}"/>
              </a:ext>
            </a:extLst>
          </p:cNvPr>
          <p:cNvSpPr>
            <a:spLocks noGrp="1"/>
          </p:cNvSpPr>
          <p:nvPr>
            <p:ph type="sldNum" sz="quarter" idx="12"/>
          </p:nvPr>
        </p:nvSpPr>
        <p:spPr/>
        <p:txBody>
          <a:bodyPr/>
          <a:lstStyle/>
          <a:p>
            <a:fld id="{01AD1135-6E10-4422-AC8B-257B84239C9C}" type="slidenum">
              <a:rPr lang="en-IN" smtClean="0"/>
              <a:t>14</a:t>
            </a:fld>
            <a:endParaRPr lang="en-IN"/>
          </a:p>
        </p:txBody>
      </p:sp>
    </p:spTree>
    <p:extLst>
      <p:ext uri="{BB962C8B-B14F-4D97-AF65-F5344CB8AC3E}">
        <p14:creationId xmlns:p14="http://schemas.microsoft.com/office/powerpoint/2010/main" val="41673702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TotalTime>
  <Words>1508</Words>
  <Application>Microsoft Office PowerPoint</Application>
  <PresentationFormat>Widescreen</PresentationFormat>
  <Paragraphs>217</Paragraphs>
  <Slides>14</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Research Gap Identification </vt:lpstr>
      <vt:lpstr>PowerPoint Presentation</vt:lpstr>
      <vt:lpstr>PowerPoint Presentation</vt:lpstr>
      <vt:lpstr>Project Plan</vt:lpstr>
      <vt:lpstr>Significance of the Project</vt:lpstr>
      <vt:lpstr>Relevance to Project Title</vt:lpstr>
      <vt:lpstr>Depth and Quality of Literature Review</vt:lpstr>
      <vt:lpstr>Critical Analysis and Synthesis of Literature</vt:lpstr>
      <vt:lpstr>Gap Analysis Through Literature Review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SAI SAHASRA MANUKONDA</cp:lastModifiedBy>
  <cp:revision>32</cp:revision>
  <dcterms:created xsi:type="dcterms:W3CDTF">2026-08-08T06:33:56Z</dcterms:created>
  <dcterms:modified xsi:type="dcterms:W3CDTF">2026-08-26T08:13:59Z</dcterms:modified>
</cp:coreProperties>
</file>